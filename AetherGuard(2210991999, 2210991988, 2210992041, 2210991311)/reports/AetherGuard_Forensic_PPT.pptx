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8"/>
  </p:notesMasterIdLst>
  <p:sldIdLst>
    <p:sldId id="268" r:id="rId2"/>
    <p:sldId id="267" r:id="rId3"/>
    <p:sldId id="317" r:id="rId4"/>
    <p:sldId id="305" r:id="rId5"/>
    <p:sldId id="333" r:id="rId6"/>
    <p:sldId id="334" r:id="rId7"/>
    <p:sldId id="335" r:id="rId8"/>
    <p:sldId id="323" r:id="rId9"/>
    <p:sldId id="330" r:id="rId10"/>
    <p:sldId id="319" r:id="rId11"/>
    <p:sldId id="332" r:id="rId12"/>
    <p:sldId id="338" r:id="rId13"/>
    <p:sldId id="299" r:id="rId14"/>
    <p:sldId id="336" r:id="rId15"/>
    <p:sldId id="337" r:id="rId16"/>
    <p:sldId id="265" r:id="rId1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12" autoAdjust="0"/>
    <p:restoredTop sz="94660"/>
  </p:normalViewPr>
  <p:slideViewPr>
    <p:cSldViewPr>
      <p:cViewPr varScale="1">
        <p:scale>
          <a:sx n="84" d="100"/>
          <a:sy n="84" d="100"/>
        </p:scale>
        <p:origin x="1445" y="62"/>
      </p:cViewPr>
      <p:guideLst>
        <p:guide orient="horz" pos="2160"/>
        <p:guide pos="2880"/>
      </p:guideLst>
    </p:cSldViewPr>
  </p:slideViewPr>
  <p:notesTextViewPr>
    <p:cViewPr>
      <p:scale>
        <a:sx n="400" d="100"/>
        <a:sy n="4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7CA002-7A07-4C77-B65A-DC99F4DBBEBE}" type="datetimeFigureOut">
              <a:rPr lang="en-IN" smtClean="0"/>
              <a:t>26-04-2026</a:t>
            </a:fld>
            <a:endParaRPr lang="en-I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A0F648-95B6-471F-AAA7-92D6D2AB8A40}" type="slidenum">
              <a:rPr lang="en-IN" smtClean="0"/>
              <a:t>‹#›</a:t>
            </a:fld>
            <a:endParaRPr lang="en-IN"/>
          </a:p>
        </p:txBody>
      </p:sp>
    </p:spTree>
    <p:extLst>
      <p:ext uri="{BB962C8B-B14F-4D97-AF65-F5344CB8AC3E}">
        <p14:creationId xmlns:p14="http://schemas.microsoft.com/office/powerpoint/2010/main" val="2521863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5486400" cy="914400"/>
          </a:xfrm>
        </p:spPr>
        <p:txBody>
          <a:bodyPr/>
          <a:lstStyle>
            <a:lvl1pPr>
              <a:defRPr sz="3200" b="1">
                <a:latin typeface="Times New Roman" panose="02020603050405020304" pitchFamily="18" charset="0"/>
                <a:cs typeface="Times New Roman" panose="02020603050405020304" pitchFamily="18" charset="0"/>
              </a:defRPr>
            </a:lvl1pPr>
          </a:lstStyle>
          <a:p>
            <a:r>
              <a:rPr lang="en-US"/>
              <a:t>Click to edit Master title style</a:t>
            </a:r>
            <a:endParaRPr lang="en-US" dirty="0"/>
          </a:p>
        </p:txBody>
      </p:sp>
      <p:sp>
        <p:nvSpPr>
          <p:cNvPr id="3" name="Subtitle 2"/>
          <p:cNvSpPr>
            <a:spLocks noGrp="1"/>
          </p:cNvSpPr>
          <p:nvPr>
            <p:ph type="subTitle" idx="1"/>
          </p:nvPr>
        </p:nvSpPr>
        <p:spPr>
          <a:xfrm>
            <a:off x="533400" y="1371600"/>
            <a:ext cx="8153400" cy="47244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fld id="{1D5BB0C6-8FC1-47C0-B737-D54E21B5B868}" type="datetimeFigureOut">
              <a:rPr lang="en-US" smtClean="0"/>
              <a:pPr/>
              <a:t>4/26/2026</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0F8887D6-2A35-42AC-99C1-5E14D32EE4CF}" type="slidenum">
              <a:rPr lang="en-US" smtClean="0"/>
              <a:pPr/>
              <a:t>‹#›</a:t>
            </a:fld>
            <a:endParaRPr lang="en-US"/>
          </a:p>
        </p:txBody>
      </p:sp>
    </p:spTree>
  </p:cSld>
  <p:clrMapOvr>
    <a:masterClrMapping/>
  </p:clrMapOvr>
  <p:transition advTm="4000">
    <p:cut/>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4" name="Picture 10" descr="LOGO.gif"/>
          <p:cNvPicPr>
            <a:picLocks noChangeAspect="1"/>
          </p:cNvPicPr>
          <p:nvPr/>
        </p:nvPicPr>
        <p:blipFill>
          <a:blip r:embed="rId2" cstate="print"/>
          <a:srcRect b="10713"/>
          <a:stretch>
            <a:fillRect/>
          </a:stretch>
        </p:blipFill>
        <p:spPr bwMode="auto">
          <a:xfrm>
            <a:off x="6553200" y="228600"/>
            <a:ext cx="2057400" cy="635000"/>
          </a:xfrm>
          <a:prstGeom prst="rect">
            <a:avLst/>
          </a:prstGeom>
          <a:noFill/>
          <a:ln w="9525">
            <a:noFill/>
            <a:miter lim="800000"/>
            <a:headEnd/>
            <a:tailEnd/>
          </a:ln>
        </p:spPr>
      </p:pic>
      <p:grpSp>
        <p:nvGrpSpPr>
          <p:cNvPr id="5" name="Group 7"/>
          <p:cNvGrpSpPr>
            <a:grpSpLocks/>
          </p:cNvGrpSpPr>
          <p:nvPr/>
        </p:nvGrpSpPr>
        <p:grpSpPr bwMode="auto">
          <a:xfrm>
            <a:off x="6146800" y="0"/>
            <a:ext cx="2997200" cy="876300"/>
            <a:chOff x="6096000" y="3924300"/>
            <a:chExt cx="2997200" cy="876300"/>
          </a:xfrm>
        </p:grpSpPr>
        <p:sp>
          <p:nvSpPr>
            <p:cNvPr id="6" name="Rectangle 11"/>
            <p:cNvSpPr>
              <a:spLocks noChangeArrowheads="1"/>
            </p:cNvSpPr>
            <p:nvPr/>
          </p:nvSpPr>
          <p:spPr bwMode="auto">
            <a:xfrm>
              <a:off x="6096000" y="3924300"/>
              <a:ext cx="2997200" cy="838200"/>
            </a:xfrm>
            <a:prstGeom prst="rect">
              <a:avLst/>
            </a:prstGeom>
            <a:solidFill>
              <a:srgbClr val="FF3300"/>
            </a:solidFill>
            <a:ln w="9525">
              <a:noFill/>
              <a:miter lim="800000"/>
              <a:headEnd/>
              <a:tailEnd/>
            </a:ln>
          </p:spPr>
          <p:txBody>
            <a:bodyPr wrap="none" anchor="ctr"/>
            <a:lstStyle/>
            <a:p>
              <a:endParaRPr lang="en-US">
                <a:latin typeface="Calibri" pitchFamily="34" charset="0"/>
              </a:endParaRPr>
            </a:p>
          </p:txBody>
        </p:sp>
        <p:pic>
          <p:nvPicPr>
            <p:cNvPr id="7" name="Picture 9" descr="LOGO.gif"/>
            <p:cNvPicPr>
              <a:picLocks noChangeAspect="1"/>
            </p:cNvPicPr>
            <p:nvPr/>
          </p:nvPicPr>
          <p:blipFill>
            <a:blip r:embed="rId2" cstate="print"/>
            <a:srcRect b="10713"/>
            <a:stretch>
              <a:fillRect/>
            </a:stretch>
          </p:blipFill>
          <p:spPr bwMode="auto">
            <a:xfrm>
              <a:off x="6502400" y="4152900"/>
              <a:ext cx="2057400" cy="635000"/>
            </a:xfrm>
            <a:prstGeom prst="rect">
              <a:avLst/>
            </a:prstGeom>
            <a:noFill/>
            <a:ln w="9525">
              <a:noFill/>
              <a:miter lim="800000"/>
              <a:headEnd/>
              <a:tailEnd/>
            </a:ln>
          </p:spPr>
        </p:pic>
        <p:sp>
          <p:nvSpPr>
            <p:cNvPr id="8" name="Rectangle 7"/>
            <p:cNvSpPr/>
            <p:nvPr/>
          </p:nvSpPr>
          <p:spPr>
            <a:xfrm>
              <a:off x="6477000" y="4114800"/>
              <a:ext cx="2076450" cy="685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grpSp>
      <p:pic>
        <p:nvPicPr>
          <p:cNvPr id="9" name="Picture 15" descr="logo.jpg"/>
          <p:cNvPicPr>
            <a:picLocks noChangeAspect="1"/>
          </p:cNvPicPr>
          <p:nvPr/>
        </p:nvPicPr>
        <p:blipFill>
          <a:blip r:embed="rId3" cstate="print"/>
          <a:srcRect/>
          <a:stretch>
            <a:fillRect/>
          </a:stretch>
        </p:blipFill>
        <p:spPr bwMode="auto">
          <a:xfrm>
            <a:off x="6553200" y="228600"/>
            <a:ext cx="1920875" cy="609600"/>
          </a:xfrm>
          <a:prstGeom prst="rect">
            <a:avLst/>
          </a:prstGeom>
          <a:noFill/>
          <a:ln w="9525">
            <a:noFill/>
            <a:miter lim="800000"/>
            <a:headEnd/>
            <a:tailEnd/>
          </a:ln>
        </p:spPr>
      </p:pic>
      <p:sp>
        <p:nvSpPr>
          <p:cNvPr id="2" name="Title 1"/>
          <p:cNvSpPr>
            <a:spLocks noGrp="1"/>
          </p:cNvSpPr>
          <p:nvPr>
            <p:ph type="title"/>
          </p:nvPr>
        </p:nvSpPr>
        <p:spPr/>
        <p:txBody>
          <a:bodyPr/>
          <a:lstStyle>
            <a:lvl1pPr>
              <a:defRPr sz="3200">
                <a:latin typeface="Times New Roman" panose="02020603050405020304" pitchFamily="18" charset="0"/>
                <a:cs typeface="Times New Roman" panose="02020603050405020304" pitchFamily="18"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200">
                <a:latin typeface="Times New Roman" panose="02020603050405020304" pitchFamily="18" charset="0"/>
                <a:cs typeface="Times New Roman" panose="02020603050405020304" pitchFamily="18" charset="0"/>
              </a:defRPr>
            </a:lvl1pPr>
            <a:lvl2pPr>
              <a:defRPr sz="2200">
                <a:latin typeface="Times New Roman" panose="02020603050405020304" pitchFamily="18" charset="0"/>
                <a:cs typeface="Times New Roman" panose="02020603050405020304" pitchFamily="18" charset="0"/>
              </a:defRPr>
            </a:lvl2pPr>
            <a:lvl3pPr>
              <a:defRPr sz="2200">
                <a:latin typeface="Times New Roman" panose="02020603050405020304" pitchFamily="18" charset="0"/>
                <a:cs typeface="Times New Roman" panose="02020603050405020304" pitchFamily="18" charset="0"/>
              </a:defRPr>
            </a:lvl3pPr>
            <a:lvl4pPr>
              <a:defRPr sz="2200">
                <a:latin typeface="Times New Roman" panose="02020603050405020304" pitchFamily="18" charset="0"/>
                <a:cs typeface="Times New Roman" panose="02020603050405020304" pitchFamily="18" charset="0"/>
              </a:defRPr>
            </a:lvl4pPr>
            <a:lvl5pPr>
              <a:defRPr sz="2200">
                <a:latin typeface="Times New Roman" panose="02020603050405020304" pitchFamily="18" charset="0"/>
                <a:cs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3"/>
          <p:cNvSpPr>
            <a:spLocks noGrp="1"/>
          </p:cNvSpPr>
          <p:nvPr>
            <p:ph type="dt" sz="half" idx="10"/>
          </p:nvPr>
        </p:nvSpPr>
        <p:spPr/>
        <p:txBody>
          <a:bodyPr/>
          <a:lstStyle>
            <a:lvl1pPr>
              <a:defRPr/>
            </a:lvl1pPr>
          </a:lstStyle>
          <a:p>
            <a:fld id="{1D5BB0C6-8FC1-47C0-B737-D54E21B5B868}" type="datetimeFigureOut">
              <a:rPr lang="en-US" smtClean="0"/>
              <a:pPr/>
              <a:t>4/26/2026</a:t>
            </a:fld>
            <a:endParaRPr lang="en-US"/>
          </a:p>
        </p:txBody>
      </p:sp>
      <p:sp>
        <p:nvSpPr>
          <p:cNvPr id="11" name="Footer Placeholder 4"/>
          <p:cNvSpPr>
            <a:spLocks noGrp="1"/>
          </p:cNvSpPr>
          <p:nvPr>
            <p:ph type="ftr" sz="quarter" idx="11"/>
          </p:nvPr>
        </p:nvSpPr>
        <p:spPr/>
        <p:txBody>
          <a:bodyPr/>
          <a:lstStyle>
            <a:lvl1pPr>
              <a:defRPr/>
            </a:lvl1pPr>
          </a:lstStyle>
          <a:p>
            <a:endParaRPr lang="en-US"/>
          </a:p>
        </p:txBody>
      </p:sp>
      <p:sp>
        <p:nvSpPr>
          <p:cNvPr id="12" name="Slide Number Placeholder 5"/>
          <p:cNvSpPr>
            <a:spLocks noGrp="1"/>
          </p:cNvSpPr>
          <p:nvPr>
            <p:ph type="sldNum" sz="quarter" idx="12"/>
          </p:nvPr>
        </p:nvSpPr>
        <p:spPr/>
        <p:txBody>
          <a:bodyPr/>
          <a:lstStyle>
            <a:lvl1pPr>
              <a:defRPr/>
            </a:lvl1pPr>
          </a:lstStyle>
          <a:p>
            <a:fld id="{0F8887D6-2A35-42AC-99C1-5E14D32EE4CF}" type="slidenum">
              <a:rPr lang="en-US" smtClean="0"/>
              <a:pPr/>
              <a:t>‹#›</a:t>
            </a:fld>
            <a:endParaRPr lang="en-US"/>
          </a:p>
        </p:txBody>
      </p:sp>
    </p:spTree>
  </p:cSld>
  <p:clrMapOvr>
    <a:masterClrMapping/>
  </p:clrMapOvr>
  <p:transition advTm="4000">
    <p:cut/>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1D5BB0C6-8FC1-47C0-B737-D54E21B5B868}" type="datetimeFigureOut">
              <a:rPr lang="en-US" smtClean="0"/>
              <a:pPr/>
              <a:t>4/26/2026</a:t>
            </a:fld>
            <a:endParaRPr lang="en-US"/>
          </a:p>
        </p:txBody>
      </p:sp>
      <p:sp>
        <p:nvSpPr>
          <p:cNvPr id="24" name="Footer Placeholder 23"/>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8887D6-2A35-42AC-99C1-5E14D32EE4CF}" type="slidenum">
              <a:rPr lang="en-US" smtClean="0"/>
              <a:pPr/>
              <a:t>‹#›</a:t>
            </a:fld>
            <a:endParaRPr lang="en-US"/>
          </a:p>
        </p:txBody>
      </p:sp>
    </p:spTree>
  </p:cSld>
  <p:clrMapOvr>
    <a:masterClrMapping/>
  </p:clrMapOvr>
  <p:transition advTm="4000">
    <p:cut/>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jpeg"/><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0" y="0"/>
            <a:ext cx="6477000" cy="8382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457200" y="13716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wrap="square" lIns="91440" tIns="45720" rIns="91440" bIns="45720" numCol="1" anchor="ctr" anchorCtr="0" compatLnSpc="1">
            <a:prstTxWarp prst="textNoShape">
              <a:avLst/>
            </a:prstTxWarp>
          </a:bodyPr>
          <a:lstStyle>
            <a:lvl1pPr>
              <a:defRPr sz="1200" b="1">
                <a:solidFill>
                  <a:srgbClr val="0070C0"/>
                </a:solidFill>
                <a:latin typeface="Times New Roman" pitchFamily="18" charset="0"/>
                <a:cs typeface="Times New Roman" pitchFamily="18" charset="0"/>
              </a:defRPr>
            </a:lvl1pPr>
          </a:lstStyle>
          <a:p>
            <a:fld id="{1D5BB0C6-8FC1-47C0-B737-D54E21B5B868}" type="datetimeFigureOut">
              <a:rPr lang="en-US" smtClean="0"/>
              <a:pPr/>
              <a:t>4/26/2026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200" b="1">
                <a:solidFill>
                  <a:srgbClr val="0070C0"/>
                </a:solidFill>
                <a:latin typeface="Times New Roman" pitchFamily="18" charset="0"/>
                <a:ea typeface="ＭＳ Ｐゴシック" charset="-128"/>
                <a:cs typeface="Times New Roman" pitchFamily="18" charset="0"/>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b="1">
                <a:solidFill>
                  <a:srgbClr val="0070C0"/>
                </a:solidFill>
                <a:latin typeface="Times New Roman" pitchFamily="18" charset="0"/>
                <a:cs typeface="Times New Roman" pitchFamily="18" charset="0"/>
              </a:defRPr>
            </a:lvl1pPr>
          </a:lstStyle>
          <a:p>
            <a:fld id="{0F8887D6-2A35-42AC-99C1-5E14D32EE4CF}" type="slidenum">
              <a:rPr lang="en-US" smtClean="0"/>
              <a:pPr/>
              <a:t>‹#›</a:t>
            </a:fld>
            <a:endParaRPr lang="en-US"/>
          </a:p>
        </p:txBody>
      </p:sp>
      <p:sp>
        <p:nvSpPr>
          <p:cNvPr id="1031" name="Rectangle 11"/>
          <p:cNvSpPr>
            <a:spLocks noChangeArrowheads="1"/>
          </p:cNvSpPr>
          <p:nvPr/>
        </p:nvSpPr>
        <p:spPr bwMode="auto">
          <a:xfrm>
            <a:off x="0" y="0"/>
            <a:ext cx="9144000" cy="838200"/>
          </a:xfrm>
          <a:prstGeom prst="rect">
            <a:avLst/>
          </a:prstGeom>
          <a:solidFill>
            <a:srgbClr val="FF3300"/>
          </a:solidFill>
          <a:ln w="9525">
            <a:noFill/>
            <a:miter lim="800000"/>
            <a:headEnd/>
            <a:tailEnd/>
          </a:ln>
        </p:spPr>
        <p:txBody>
          <a:bodyPr wrap="none" anchor="ctr"/>
          <a:lstStyle/>
          <a:p>
            <a:endParaRPr lang="en-US">
              <a:latin typeface="Calibri" pitchFamily="34" charset="0"/>
            </a:endParaRPr>
          </a:p>
        </p:txBody>
      </p:sp>
      <p:sp>
        <p:nvSpPr>
          <p:cNvPr id="8" name="Rectangle 11"/>
          <p:cNvSpPr>
            <a:spLocks noChangeArrowheads="1"/>
          </p:cNvSpPr>
          <p:nvPr/>
        </p:nvSpPr>
        <p:spPr bwMode="auto">
          <a:xfrm flipV="1">
            <a:off x="0" y="6705600"/>
            <a:ext cx="9144000" cy="198116"/>
          </a:xfrm>
          <a:prstGeom prst="rect">
            <a:avLst/>
          </a:prstGeom>
          <a:solidFill>
            <a:srgbClr val="FF0000"/>
          </a:solidFill>
          <a:ln w="9525">
            <a:noFill/>
            <a:miter lim="800000"/>
            <a:headEnd/>
            <a:tailEnd/>
          </a:ln>
          <a:effectLst/>
          <a:scene3d>
            <a:camera prst="orthographicFront"/>
            <a:lightRig rig="threePt" dir="t"/>
          </a:scene3d>
          <a:sp3d>
            <a:bevelB/>
          </a:sp3d>
        </p:spPr>
        <p:txBody>
          <a:bodyPr wrap="none" anchor="ctr"/>
          <a:lstStyle/>
          <a:p>
            <a:pPr>
              <a:defRPr/>
            </a:pPr>
            <a:endParaRPr lang="en-US">
              <a:latin typeface="Calibri" charset="0"/>
              <a:ea typeface="ＭＳ Ｐゴシック" charset="-128"/>
            </a:endParaRPr>
          </a:p>
        </p:txBody>
      </p:sp>
      <p:pic>
        <p:nvPicPr>
          <p:cNvPr id="1035" name="Picture 10" descr="LOGO.gif"/>
          <p:cNvPicPr>
            <a:picLocks noChangeAspect="1"/>
          </p:cNvPicPr>
          <p:nvPr/>
        </p:nvPicPr>
        <p:blipFill>
          <a:blip r:embed="rId5" cstate="print"/>
          <a:srcRect b="10713"/>
          <a:stretch>
            <a:fillRect/>
          </a:stretch>
        </p:blipFill>
        <p:spPr bwMode="auto">
          <a:xfrm>
            <a:off x="6553200" y="228600"/>
            <a:ext cx="2057400" cy="635000"/>
          </a:xfrm>
          <a:prstGeom prst="rect">
            <a:avLst/>
          </a:prstGeom>
          <a:noFill/>
          <a:ln w="9525">
            <a:noFill/>
            <a:miter lim="800000"/>
            <a:headEnd/>
            <a:tailEnd/>
          </a:ln>
        </p:spPr>
      </p:pic>
      <p:pic>
        <p:nvPicPr>
          <p:cNvPr id="1036" name="Picture 10" descr="LOGO.gif"/>
          <p:cNvPicPr>
            <a:picLocks noChangeAspect="1"/>
          </p:cNvPicPr>
          <p:nvPr/>
        </p:nvPicPr>
        <p:blipFill>
          <a:blip r:embed="rId5" cstate="print"/>
          <a:srcRect b="10713"/>
          <a:stretch>
            <a:fillRect/>
          </a:stretch>
        </p:blipFill>
        <p:spPr bwMode="auto">
          <a:xfrm>
            <a:off x="6553200" y="228600"/>
            <a:ext cx="2057400" cy="635000"/>
          </a:xfrm>
          <a:prstGeom prst="rect">
            <a:avLst/>
          </a:prstGeom>
          <a:noFill/>
          <a:ln w="9525">
            <a:noFill/>
            <a:miter lim="800000"/>
            <a:headEnd/>
            <a:tailEnd/>
          </a:ln>
        </p:spPr>
      </p:pic>
      <p:grpSp>
        <p:nvGrpSpPr>
          <p:cNvPr id="2" name="Group 7"/>
          <p:cNvGrpSpPr>
            <a:grpSpLocks/>
          </p:cNvGrpSpPr>
          <p:nvPr/>
        </p:nvGrpSpPr>
        <p:grpSpPr bwMode="auto">
          <a:xfrm>
            <a:off x="6146800" y="0"/>
            <a:ext cx="2997200" cy="876300"/>
            <a:chOff x="6096000" y="3924300"/>
            <a:chExt cx="2997200" cy="876300"/>
          </a:xfrm>
        </p:grpSpPr>
        <p:sp>
          <p:nvSpPr>
            <p:cNvPr id="1039" name="Rectangle 11"/>
            <p:cNvSpPr>
              <a:spLocks noChangeArrowheads="1"/>
            </p:cNvSpPr>
            <p:nvPr/>
          </p:nvSpPr>
          <p:spPr bwMode="auto">
            <a:xfrm>
              <a:off x="6096000" y="3924300"/>
              <a:ext cx="2997200" cy="838200"/>
            </a:xfrm>
            <a:prstGeom prst="rect">
              <a:avLst/>
            </a:prstGeom>
            <a:solidFill>
              <a:srgbClr val="FF3300"/>
            </a:solidFill>
            <a:ln w="9525">
              <a:noFill/>
              <a:miter lim="800000"/>
              <a:headEnd/>
              <a:tailEnd/>
            </a:ln>
          </p:spPr>
          <p:txBody>
            <a:bodyPr wrap="none" anchor="ctr"/>
            <a:lstStyle/>
            <a:p>
              <a:endParaRPr lang="en-US">
                <a:latin typeface="Calibri" pitchFamily="34" charset="0"/>
              </a:endParaRPr>
            </a:p>
          </p:txBody>
        </p:sp>
        <p:pic>
          <p:nvPicPr>
            <p:cNvPr id="1040" name="Picture 9" descr="LOGO.gif"/>
            <p:cNvPicPr>
              <a:picLocks noChangeAspect="1"/>
            </p:cNvPicPr>
            <p:nvPr/>
          </p:nvPicPr>
          <p:blipFill>
            <a:blip r:embed="rId5" cstate="print"/>
            <a:srcRect b="10713"/>
            <a:stretch>
              <a:fillRect/>
            </a:stretch>
          </p:blipFill>
          <p:spPr bwMode="auto">
            <a:xfrm>
              <a:off x="6502400" y="4152900"/>
              <a:ext cx="2057400" cy="635000"/>
            </a:xfrm>
            <a:prstGeom prst="rect">
              <a:avLst/>
            </a:prstGeom>
            <a:noFill/>
            <a:ln w="9525">
              <a:noFill/>
              <a:miter lim="800000"/>
              <a:headEnd/>
              <a:tailEnd/>
            </a:ln>
          </p:spPr>
        </p:pic>
        <p:sp>
          <p:nvSpPr>
            <p:cNvPr id="19" name="Rectangle 18"/>
            <p:cNvSpPr/>
            <p:nvPr/>
          </p:nvSpPr>
          <p:spPr>
            <a:xfrm>
              <a:off x="6477000" y="4114800"/>
              <a:ext cx="2076450" cy="685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grpSp>
      <p:pic>
        <p:nvPicPr>
          <p:cNvPr id="1038" name="Picture 15" descr="logo.jpg"/>
          <p:cNvPicPr>
            <a:picLocks noChangeAspect="1"/>
          </p:cNvPicPr>
          <p:nvPr/>
        </p:nvPicPr>
        <p:blipFill>
          <a:blip r:embed="rId6" cstate="print"/>
          <a:srcRect/>
          <a:stretch>
            <a:fillRect/>
          </a:stretch>
        </p:blipFill>
        <p:spPr bwMode="auto">
          <a:xfrm>
            <a:off x="6553200" y="228600"/>
            <a:ext cx="1920875" cy="609600"/>
          </a:xfrm>
          <a:prstGeom prst="rect">
            <a:avLst/>
          </a:prstGeom>
          <a:noFill/>
          <a:ln w="9525">
            <a:noFill/>
            <a:miter lim="800000"/>
            <a:headEnd/>
            <a:tailEnd/>
          </a:ln>
        </p:spPr>
      </p:pic>
    </p:spTree>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Lst>
  <p:transition advTm="4000">
    <p:cut/>
  </p:transition>
  <p:txStyles>
    <p:titleStyle>
      <a:lvl1pPr algn="ctr" rtl="0" eaLnBrk="1" fontAlgn="base" hangingPunct="1">
        <a:spcBef>
          <a:spcPct val="0"/>
        </a:spcBef>
        <a:spcAft>
          <a:spcPct val="0"/>
        </a:spcAft>
        <a:defRPr sz="3000" kern="1200">
          <a:solidFill>
            <a:schemeClr val="tx1"/>
          </a:solidFill>
          <a:latin typeface="+mj-lt"/>
          <a:ea typeface="MS PGothic"/>
          <a:cs typeface="MS PGothic"/>
        </a:defRPr>
      </a:lvl1pPr>
      <a:lvl2pPr algn="ctr" rtl="0" eaLnBrk="1" fontAlgn="base" hangingPunct="1">
        <a:spcBef>
          <a:spcPct val="0"/>
        </a:spcBef>
        <a:spcAft>
          <a:spcPct val="0"/>
        </a:spcAft>
        <a:defRPr sz="3000">
          <a:solidFill>
            <a:schemeClr val="tx1"/>
          </a:solidFill>
          <a:latin typeface="Calibri" charset="0"/>
          <a:ea typeface="MS PGothic"/>
          <a:cs typeface="MS PGothic"/>
        </a:defRPr>
      </a:lvl2pPr>
      <a:lvl3pPr algn="ctr" rtl="0" eaLnBrk="1" fontAlgn="base" hangingPunct="1">
        <a:spcBef>
          <a:spcPct val="0"/>
        </a:spcBef>
        <a:spcAft>
          <a:spcPct val="0"/>
        </a:spcAft>
        <a:defRPr sz="3000">
          <a:solidFill>
            <a:schemeClr val="tx1"/>
          </a:solidFill>
          <a:latin typeface="Calibri" charset="0"/>
          <a:ea typeface="MS PGothic"/>
          <a:cs typeface="MS PGothic"/>
        </a:defRPr>
      </a:lvl3pPr>
      <a:lvl4pPr algn="ctr" rtl="0" eaLnBrk="1" fontAlgn="base" hangingPunct="1">
        <a:spcBef>
          <a:spcPct val="0"/>
        </a:spcBef>
        <a:spcAft>
          <a:spcPct val="0"/>
        </a:spcAft>
        <a:defRPr sz="3000">
          <a:solidFill>
            <a:schemeClr val="tx1"/>
          </a:solidFill>
          <a:latin typeface="Calibri" charset="0"/>
          <a:ea typeface="MS PGothic"/>
          <a:cs typeface="MS PGothic"/>
        </a:defRPr>
      </a:lvl4pPr>
      <a:lvl5pPr algn="ctr" rtl="0" eaLnBrk="1" fontAlgn="base" hangingPunct="1">
        <a:spcBef>
          <a:spcPct val="0"/>
        </a:spcBef>
        <a:spcAft>
          <a:spcPct val="0"/>
        </a:spcAft>
        <a:defRPr sz="3000">
          <a:solidFill>
            <a:schemeClr val="tx1"/>
          </a:solidFill>
          <a:latin typeface="Calibri" charset="0"/>
          <a:ea typeface="MS PGothic"/>
          <a:cs typeface="MS PGothic"/>
        </a:defRPr>
      </a:lvl5pPr>
      <a:lvl6pPr marL="457200" algn="ctr" rtl="0" eaLnBrk="1" fontAlgn="base" hangingPunct="1">
        <a:spcBef>
          <a:spcPct val="0"/>
        </a:spcBef>
        <a:spcAft>
          <a:spcPct val="0"/>
        </a:spcAft>
        <a:defRPr sz="3000">
          <a:solidFill>
            <a:schemeClr val="tx1"/>
          </a:solidFill>
          <a:latin typeface="Calibri" charset="0"/>
          <a:ea typeface="ＭＳ Ｐゴシック" charset="-128"/>
        </a:defRPr>
      </a:lvl6pPr>
      <a:lvl7pPr marL="914400" algn="ctr" rtl="0" eaLnBrk="1" fontAlgn="base" hangingPunct="1">
        <a:spcBef>
          <a:spcPct val="0"/>
        </a:spcBef>
        <a:spcAft>
          <a:spcPct val="0"/>
        </a:spcAft>
        <a:defRPr sz="3000">
          <a:solidFill>
            <a:schemeClr val="tx1"/>
          </a:solidFill>
          <a:latin typeface="Calibri" charset="0"/>
          <a:ea typeface="ＭＳ Ｐゴシック" charset="-128"/>
        </a:defRPr>
      </a:lvl7pPr>
      <a:lvl8pPr marL="1371600" algn="ctr" rtl="0" eaLnBrk="1" fontAlgn="base" hangingPunct="1">
        <a:spcBef>
          <a:spcPct val="0"/>
        </a:spcBef>
        <a:spcAft>
          <a:spcPct val="0"/>
        </a:spcAft>
        <a:defRPr sz="3000">
          <a:solidFill>
            <a:schemeClr val="tx1"/>
          </a:solidFill>
          <a:latin typeface="Calibri" charset="0"/>
          <a:ea typeface="ＭＳ Ｐゴシック" charset="-128"/>
        </a:defRPr>
      </a:lvl8pPr>
      <a:lvl9pPr marL="1828800" algn="ctr" rtl="0" eaLnBrk="1" fontAlgn="base" hangingPunct="1">
        <a:spcBef>
          <a:spcPct val="0"/>
        </a:spcBef>
        <a:spcAft>
          <a:spcPct val="0"/>
        </a:spcAft>
        <a:defRPr sz="3000">
          <a:solidFill>
            <a:schemeClr val="tx1"/>
          </a:solidFill>
          <a:latin typeface="Calibri" charset="0"/>
          <a:ea typeface="ＭＳ Ｐゴシック" charset="-128"/>
        </a:defRPr>
      </a:lvl9pPr>
    </p:titleStyle>
    <p:bodyStyle>
      <a:lvl1pPr marL="342900" indent="-342900" algn="l" rtl="0" eaLnBrk="1" fontAlgn="base" hangingPunct="1">
        <a:spcBef>
          <a:spcPct val="20000"/>
        </a:spcBef>
        <a:spcAft>
          <a:spcPct val="0"/>
        </a:spcAft>
        <a:buFont typeface="Arial" pitchFamily="34" charset="0"/>
        <a:buChar char="•"/>
        <a:defRPr sz="3200" kern="1200">
          <a:solidFill>
            <a:schemeClr val="tx1"/>
          </a:solidFill>
          <a:latin typeface="+mn-lt"/>
          <a:ea typeface="MS PGothic"/>
          <a:cs typeface="MS PGothic"/>
        </a:defRPr>
      </a:lvl1pPr>
      <a:lvl2pPr marL="742950" indent="-285750" algn="l" rtl="0" eaLnBrk="1" fontAlgn="base" hangingPunct="1">
        <a:spcBef>
          <a:spcPct val="20000"/>
        </a:spcBef>
        <a:spcAft>
          <a:spcPct val="0"/>
        </a:spcAft>
        <a:buFont typeface="Arial" pitchFamily="34" charset="0"/>
        <a:buChar char="–"/>
        <a:defRPr sz="2800" kern="1200">
          <a:solidFill>
            <a:schemeClr val="tx1"/>
          </a:solidFill>
          <a:latin typeface="+mn-lt"/>
          <a:ea typeface="MS PGothic"/>
          <a:cs typeface="MS PGothic"/>
        </a:defRPr>
      </a:lvl2pPr>
      <a:lvl3pPr marL="1143000" indent="-228600" algn="l" rtl="0" eaLnBrk="1" fontAlgn="base" hangingPunct="1">
        <a:spcBef>
          <a:spcPct val="20000"/>
        </a:spcBef>
        <a:spcAft>
          <a:spcPct val="0"/>
        </a:spcAft>
        <a:buFont typeface="Arial" pitchFamily="34" charset="0"/>
        <a:buChar char="•"/>
        <a:defRPr sz="2400" kern="1200">
          <a:solidFill>
            <a:schemeClr val="tx1"/>
          </a:solidFill>
          <a:latin typeface="+mn-lt"/>
          <a:ea typeface="MS PGothic"/>
          <a:cs typeface="MS PGothic"/>
        </a:defRPr>
      </a:lvl3pPr>
      <a:lvl4pPr marL="1600200" indent="-228600" algn="l" rtl="0" eaLnBrk="1" fontAlgn="base" hangingPunct="1">
        <a:spcBef>
          <a:spcPct val="20000"/>
        </a:spcBef>
        <a:spcAft>
          <a:spcPct val="0"/>
        </a:spcAft>
        <a:buFont typeface="Arial" pitchFamily="34" charset="0"/>
        <a:buChar char="–"/>
        <a:defRPr sz="2000" kern="1200">
          <a:solidFill>
            <a:schemeClr val="tx1"/>
          </a:solidFill>
          <a:latin typeface="+mn-lt"/>
          <a:ea typeface="MS PGothic"/>
          <a:cs typeface="MS PGothic"/>
        </a:defRPr>
      </a:lvl4pPr>
      <a:lvl5pPr marL="2057400" indent="-228600" algn="l" rtl="0" eaLnBrk="1" fontAlgn="base" hangingPunct="1">
        <a:spcBef>
          <a:spcPct val="20000"/>
        </a:spcBef>
        <a:spcAft>
          <a:spcPct val="0"/>
        </a:spcAft>
        <a:buFont typeface="Arial" pitchFamily="34" charset="0"/>
        <a:buChar char="»"/>
        <a:defRPr sz="2000" kern="1200">
          <a:solidFill>
            <a:schemeClr val="tx1"/>
          </a:solidFill>
          <a:latin typeface="+mn-lt"/>
          <a:ea typeface="MS PGothic"/>
          <a:cs typeface="MS PGothic"/>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g"/><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84784"/>
            <a:ext cx="9144000" cy="5386090"/>
          </a:xfrm>
          <a:prstGeom prst="rect">
            <a:avLst/>
          </a:prstGeom>
          <a:noFill/>
        </p:spPr>
        <p:txBody>
          <a:bodyPr wrap="square" rtlCol="0">
            <a:spAutoFit/>
          </a:bodyPr>
          <a:lstStyle/>
          <a:p>
            <a:pPr algn="ctr"/>
            <a:r>
              <a:rPr lang="en-US" sz="3600" b="1" dirty="0">
                <a:solidFill>
                  <a:srgbClr val="FF0000"/>
                </a:solidFill>
                <a:latin typeface="Times New Roman" panose="02020603050405020304" pitchFamily="18" charset="0"/>
                <a:cs typeface="Times New Roman" panose="02020603050405020304" pitchFamily="18" charset="0"/>
              </a:rPr>
              <a:t>AetherGuard Forensic: Deepfake Detection System</a:t>
            </a:r>
          </a:p>
          <a:p>
            <a:pPr algn="ctr"/>
            <a:endParaRPr lang="en-US" sz="2000" b="1" dirty="0">
              <a:latin typeface="Times New Roman" panose="02020603050405020304" pitchFamily="18" charset="0"/>
              <a:cs typeface="Times New Roman" panose="02020603050405020304" pitchFamily="18" charset="0"/>
            </a:endParaRPr>
          </a:p>
          <a:p>
            <a:pPr algn="ctr"/>
            <a:r>
              <a:rPr lang="en-US" sz="2000" b="1" dirty="0">
                <a:latin typeface="Times New Roman" panose="02020603050405020304" pitchFamily="18" charset="0"/>
                <a:cs typeface="Times New Roman" panose="02020603050405020304" pitchFamily="18" charset="0"/>
              </a:rPr>
              <a:t>Piyush (2210992041)</a:t>
            </a:r>
          </a:p>
          <a:p>
            <a:pPr algn="ctr"/>
            <a:r>
              <a:rPr lang="en-US" sz="2000" b="1" dirty="0">
                <a:latin typeface="Times New Roman" panose="02020603050405020304" pitchFamily="18" charset="0"/>
                <a:cs typeface="Times New Roman" panose="02020603050405020304" pitchFamily="18" charset="0"/>
              </a:rPr>
              <a:t>Nishant (2210991988)</a:t>
            </a:r>
          </a:p>
          <a:p>
            <a:pPr algn="ctr"/>
            <a:r>
              <a:rPr lang="en-US" sz="2000" b="1" dirty="0">
                <a:latin typeface="Times New Roman" panose="02020603050405020304" pitchFamily="18" charset="0"/>
                <a:cs typeface="Times New Roman" panose="02020603050405020304" pitchFamily="18" charset="0"/>
              </a:rPr>
              <a:t>Anshul (2210991311)</a:t>
            </a:r>
          </a:p>
          <a:p>
            <a:pPr algn="ctr"/>
            <a:endParaRPr lang="en-US" sz="2000" b="1" dirty="0">
              <a:latin typeface="Times New Roman" panose="02020603050405020304" pitchFamily="18" charset="0"/>
              <a:cs typeface="Times New Roman" panose="02020603050405020304" pitchFamily="18" charset="0"/>
            </a:endParaRPr>
          </a:p>
          <a:p>
            <a:pPr algn="ctr"/>
            <a:r>
              <a:rPr lang="en-US" sz="2000" b="1" dirty="0">
                <a:latin typeface="Times New Roman" panose="02020603050405020304" pitchFamily="18" charset="0"/>
                <a:cs typeface="Times New Roman" panose="02020603050405020304" pitchFamily="18" charset="0"/>
              </a:rPr>
              <a:t>Subject: IOHE(Industry Oriented Hands-on Experience)</a:t>
            </a:r>
          </a:p>
          <a:p>
            <a:pPr algn="ctr"/>
            <a:endParaRPr lang="en-US" sz="2000" b="1" dirty="0">
              <a:latin typeface="Times New Roman" panose="02020603050405020304" pitchFamily="18" charset="0"/>
              <a:cs typeface="Times New Roman" panose="02020603050405020304" pitchFamily="18" charset="0"/>
            </a:endParaRPr>
          </a:p>
          <a:p>
            <a:pPr algn="ctr"/>
            <a:r>
              <a:rPr lang="en-US" sz="2000" b="1" dirty="0">
                <a:latin typeface="Times New Roman" panose="02020603050405020304" pitchFamily="18" charset="0"/>
                <a:cs typeface="Times New Roman" panose="02020603050405020304" pitchFamily="18" charset="0"/>
              </a:rPr>
              <a:t>Supervised by : Dr. Rajat Takkar</a:t>
            </a:r>
          </a:p>
          <a:p>
            <a:endParaRPr lang="en-US" sz="2000" b="1" dirty="0">
              <a:solidFill>
                <a:srgbClr val="FF0000"/>
              </a:solidFill>
              <a:latin typeface="Times New Roman" panose="02020603050405020304" pitchFamily="18" charset="0"/>
              <a:cs typeface="Times New Roman" panose="02020603050405020304" pitchFamily="18" charset="0"/>
            </a:endParaRPr>
          </a:p>
          <a:p>
            <a:pPr algn="ctr"/>
            <a:endParaRPr lang="en-US" sz="2000" b="1" dirty="0">
              <a:solidFill>
                <a:srgbClr val="FF0000"/>
              </a:solidFill>
              <a:latin typeface="Times New Roman" panose="02020603050405020304" pitchFamily="18" charset="0"/>
              <a:cs typeface="Times New Roman" panose="02020603050405020304" pitchFamily="18" charset="0"/>
            </a:endParaRPr>
          </a:p>
          <a:p>
            <a:pPr algn="ctr"/>
            <a:endParaRPr lang="en-US" sz="2000" b="1" dirty="0">
              <a:solidFill>
                <a:srgbClr val="FF0000"/>
              </a:solidFill>
              <a:latin typeface="Times New Roman" panose="02020603050405020304" pitchFamily="18" charset="0"/>
              <a:cs typeface="Times New Roman" panose="02020603050405020304" pitchFamily="18" charset="0"/>
            </a:endParaRPr>
          </a:p>
          <a:p>
            <a:pPr algn="ctr"/>
            <a:endParaRPr lang="en-US" sz="2000" b="1" dirty="0">
              <a:solidFill>
                <a:srgbClr val="FF0000"/>
              </a:solidFill>
              <a:latin typeface="Times New Roman" panose="02020603050405020304" pitchFamily="18" charset="0"/>
              <a:cs typeface="Times New Roman" panose="02020603050405020304" pitchFamily="18" charset="0"/>
            </a:endParaRPr>
          </a:p>
          <a:p>
            <a:pPr algn="ctr"/>
            <a:endParaRPr lang="en-US" sz="2000" b="1" dirty="0">
              <a:solidFill>
                <a:srgbClr val="FF0000"/>
              </a:solidFill>
              <a:latin typeface="Times New Roman" panose="02020603050405020304" pitchFamily="18" charset="0"/>
              <a:cs typeface="Times New Roman" panose="02020603050405020304" pitchFamily="18" charset="0"/>
            </a:endParaRPr>
          </a:p>
        </p:txBody>
      </p:sp>
      <p:sp>
        <p:nvSpPr>
          <p:cNvPr id="9" name="TextBox 8"/>
          <p:cNvSpPr txBox="1"/>
          <p:nvPr/>
        </p:nvSpPr>
        <p:spPr>
          <a:xfrm>
            <a:off x="1187624" y="5661248"/>
            <a:ext cx="6947095" cy="707886"/>
          </a:xfrm>
          <a:prstGeom prst="rect">
            <a:avLst/>
          </a:prstGeom>
          <a:noFill/>
        </p:spPr>
        <p:txBody>
          <a:bodyPr wrap="none" rtlCol="0">
            <a:spAutoFit/>
          </a:bodyPr>
          <a:lstStyle/>
          <a:p>
            <a:r>
              <a:rPr lang="en-US" sz="2000" b="1" dirty="0">
                <a:latin typeface="Times New Roman" pitchFamily="18" charset="0"/>
                <a:cs typeface="Times New Roman" pitchFamily="18" charset="0"/>
              </a:rPr>
              <a:t>Chitkara University Institute of Engineering and Technology, </a:t>
            </a:r>
          </a:p>
          <a:p>
            <a:pPr algn="ctr"/>
            <a:r>
              <a:rPr lang="en-US" sz="2000" b="1" dirty="0">
                <a:latin typeface="Times New Roman" pitchFamily="18" charset="0"/>
                <a:cs typeface="Times New Roman" pitchFamily="18" charset="0"/>
              </a:rPr>
              <a:t>Chitkara University, Punjab</a:t>
            </a:r>
          </a:p>
        </p:txBody>
      </p:sp>
    </p:spTree>
  </p:cSld>
  <p:clrMapOvr>
    <a:masterClrMapping/>
  </p:clrMapOvr>
  <p:transition advTm="4000">
    <p:cu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260648"/>
            <a:ext cx="5868144" cy="584775"/>
          </a:xfrm>
          <a:prstGeom prst="rect">
            <a:avLst/>
          </a:prstGeom>
          <a:noFill/>
        </p:spPr>
        <p:txBody>
          <a:bodyPr wrap="square" rtlCol="0">
            <a:spAutoFit/>
          </a:bodyPr>
          <a:lstStyle/>
          <a:p>
            <a:r>
              <a:rPr lang="en-US" sz="3200" b="1" dirty="0">
                <a:latin typeface="Times New Roman" panose="02020603050405020304" pitchFamily="18" charset="0"/>
                <a:cs typeface="Times New Roman" panose="02020603050405020304" pitchFamily="18" charset="0"/>
              </a:rPr>
              <a:t>Presentation Outline</a:t>
            </a:r>
          </a:p>
        </p:txBody>
      </p:sp>
      <p:sp>
        <p:nvSpPr>
          <p:cNvPr id="3" name="TextBox 2">
            <a:extLst>
              <a:ext uri="{FF2B5EF4-FFF2-40B4-BE49-F238E27FC236}">
                <a16:creationId xmlns:a16="http://schemas.microsoft.com/office/drawing/2014/main" id="{D8CC8245-EC19-729F-CB92-E19083E20A0B}"/>
              </a:ext>
            </a:extLst>
          </p:cNvPr>
          <p:cNvSpPr txBox="1"/>
          <p:nvPr/>
        </p:nvSpPr>
        <p:spPr>
          <a:xfrm>
            <a:off x="104800" y="764704"/>
            <a:ext cx="7782272" cy="4154984"/>
          </a:xfrm>
          <a:prstGeom prst="rect">
            <a:avLst/>
          </a:prstGeom>
          <a:noFill/>
        </p:spPr>
        <p:txBody>
          <a:bodyPr wrap="square" rtlCol="0">
            <a:spAutoFit/>
          </a:bodyPr>
          <a:lstStyle/>
          <a:p>
            <a:pPr marL="342900" indent="-342900">
              <a:buFont typeface="Wingdings" panose="05000000000000000000" pitchFamily="2" charset="2"/>
              <a:buChar char="q"/>
            </a:pPr>
            <a:r>
              <a:rPr lang="en-US" sz="2400" dirty="0">
                <a:latin typeface="Times New Roman" pitchFamily="18" charset="0"/>
                <a:cs typeface="Times New Roman" pitchFamily="18" charset="0"/>
              </a:rPr>
              <a:t> </a:t>
            </a:r>
            <a:r>
              <a:rPr lang="en-US" sz="2000" dirty="0">
                <a:latin typeface="Times New Roman" pitchFamily="18" charset="0"/>
                <a:cs typeface="Times New Roman" pitchFamily="18" charset="0"/>
              </a:rPr>
              <a:t>Introduction</a:t>
            </a:r>
          </a:p>
          <a:p>
            <a:pPr marL="342900" indent="-342900">
              <a:buFont typeface="Wingdings" panose="05000000000000000000" pitchFamily="2" charset="2"/>
              <a:buChar char="q"/>
            </a:pPr>
            <a:r>
              <a:rPr lang="en-US" sz="2000" dirty="0">
                <a:latin typeface="Times New Roman" pitchFamily="18" charset="0"/>
                <a:cs typeface="Times New Roman" pitchFamily="18" charset="0"/>
              </a:rPr>
              <a:t>Problem Statement</a:t>
            </a:r>
          </a:p>
          <a:p>
            <a:pPr marL="342900" indent="-342900">
              <a:buFont typeface="Wingdings" panose="05000000000000000000" pitchFamily="2" charset="2"/>
              <a:buChar char="q"/>
            </a:pPr>
            <a:r>
              <a:rPr lang="en-US" sz="2000" dirty="0">
                <a:latin typeface="Times New Roman" pitchFamily="18" charset="0"/>
                <a:cs typeface="Times New Roman" pitchFamily="18" charset="0"/>
              </a:rPr>
              <a:t>Objective</a:t>
            </a:r>
          </a:p>
          <a:p>
            <a:pPr marL="342900" indent="-342900">
              <a:buFont typeface="Wingdings" panose="05000000000000000000" pitchFamily="2" charset="2"/>
              <a:buChar char="q"/>
            </a:pPr>
            <a:r>
              <a:rPr lang="en-US" sz="2000" dirty="0">
                <a:latin typeface="Times New Roman" pitchFamily="18" charset="0"/>
                <a:cs typeface="Times New Roman" pitchFamily="18" charset="0"/>
              </a:rPr>
              <a:t>Methodology</a:t>
            </a:r>
          </a:p>
          <a:p>
            <a:pPr marL="342900" indent="-342900">
              <a:buFont typeface="Wingdings" panose="05000000000000000000" pitchFamily="2" charset="2"/>
              <a:buChar char="q"/>
            </a:pPr>
            <a:r>
              <a:rPr lang="en-US" sz="2000" dirty="0">
                <a:latin typeface="Times New Roman" pitchFamily="18" charset="0"/>
                <a:cs typeface="Times New Roman" pitchFamily="18" charset="0"/>
              </a:rPr>
              <a:t>System Architecture</a:t>
            </a:r>
          </a:p>
          <a:p>
            <a:pPr marL="342900" indent="-342900">
              <a:buFont typeface="Wingdings" panose="05000000000000000000" pitchFamily="2" charset="2"/>
              <a:buChar char="q"/>
            </a:pPr>
            <a:r>
              <a:rPr lang="en-US" sz="2000" dirty="0">
                <a:latin typeface="Times New Roman" pitchFamily="18" charset="0"/>
                <a:cs typeface="Times New Roman" pitchFamily="18" charset="0"/>
              </a:rPr>
              <a:t>Key Features </a:t>
            </a:r>
          </a:p>
          <a:p>
            <a:pPr marL="342900" indent="-342900">
              <a:buFont typeface="Wingdings" panose="05000000000000000000" pitchFamily="2" charset="2"/>
              <a:buChar char="q"/>
            </a:pPr>
            <a:r>
              <a:rPr lang="en-US" sz="2000" dirty="0">
                <a:latin typeface="Times New Roman" pitchFamily="18" charset="0"/>
                <a:cs typeface="Times New Roman" pitchFamily="18" charset="0"/>
              </a:rPr>
              <a:t>Technology Stack</a:t>
            </a:r>
          </a:p>
          <a:p>
            <a:pPr marL="342900" indent="-342900">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Results and Output</a:t>
            </a:r>
          </a:p>
          <a:p>
            <a:pPr marL="342900" indent="-342900">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Key Findings</a:t>
            </a:r>
          </a:p>
          <a:p>
            <a:pPr marL="342900" indent="-342900">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Conclusion</a:t>
            </a:r>
          </a:p>
          <a:p>
            <a:pPr marL="342900" indent="-342900">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Challenges Faced</a:t>
            </a:r>
          </a:p>
          <a:p>
            <a:pPr marL="342900" indent="-342900">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Future Scope</a:t>
            </a:r>
          </a:p>
          <a:p>
            <a:pPr marL="342900" indent="-342900">
              <a:buFont typeface="Wingdings" panose="05000000000000000000" pitchFamily="2" charset="2"/>
              <a:buChar char="q"/>
            </a:pPr>
            <a:endParaRPr lang="en-US" sz="2000" dirty="0">
              <a:latin typeface="Times New Roman" pitchFamily="18" charset="0"/>
              <a:cs typeface="Times New Roman" pitchFamily="18" charset="0"/>
            </a:endParaRPr>
          </a:p>
        </p:txBody>
      </p:sp>
      <p:pic>
        <p:nvPicPr>
          <p:cNvPr id="5" name="Picture 4">
            <a:extLst>
              <a:ext uri="{FF2B5EF4-FFF2-40B4-BE49-F238E27FC236}">
                <a16:creationId xmlns:a16="http://schemas.microsoft.com/office/drawing/2014/main" id="{B73EF380-AF0B-4E12-3005-8C52490D41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95936" y="980728"/>
            <a:ext cx="4973960" cy="5040560"/>
          </a:xfrm>
          <a:prstGeom prst="rect">
            <a:avLst/>
          </a:prstGeom>
        </p:spPr>
      </p:pic>
    </p:spTree>
  </p:cSld>
  <p:clrMapOvr>
    <a:masterClrMapping/>
  </p:clrMapOvr>
  <p:transition advTm="4000">
    <p:cut/>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35B8E-296E-809D-E192-C546B1574908}"/>
              </a:ext>
            </a:extLst>
          </p:cNvPr>
          <p:cNvSpPr>
            <a:spLocks noGrp="1"/>
          </p:cNvSpPr>
          <p:nvPr>
            <p:ph type="ctrTitle"/>
          </p:nvPr>
        </p:nvSpPr>
        <p:spPr/>
        <p:txBody>
          <a:bodyPr/>
          <a:lstStyle/>
          <a:p>
            <a:pPr algn="l"/>
            <a:r>
              <a:rPr lang="en-IN" dirty="0"/>
              <a:t>Introduction</a:t>
            </a:r>
          </a:p>
        </p:txBody>
      </p:sp>
      <p:sp>
        <p:nvSpPr>
          <p:cNvPr id="3" name="Subtitle 2">
            <a:extLst>
              <a:ext uri="{FF2B5EF4-FFF2-40B4-BE49-F238E27FC236}">
                <a16:creationId xmlns:a16="http://schemas.microsoft.com/office/drawing/2014/main" id="{4782A0CF-7F55-A2D3-506A-0F9A054869EF}"/>
              </a:ext>
            </a:extLst>
          </p:cNvPr>
          <p:cNvSpPr>
            <a:spLocks noGrp="1"/>
          </p:cNvSpPr>
          <p:nvPr>
            <p:ph type="subTitle" idx="1"/>
          </p:nvPr>
        </p:nvSpPr>
        <p:spPr>
          <a:xfrm>
            <a:off x="395536" y="1196752"/>
            <a:ext cx="8153400" cy="4724400"/>
          </a:xfrm>
        </p:spPr>
        <p:txBody>
          <a:bodyPr/>
          <a:lstStyle/>
          <a:p>
            <a:pPr marL="342900" indent="-342900" algn="l">
              <a:buFont typeface="Wingdings" panose="05000000000000000000" pitchFamily="2" charset="2"/>
              <a:buChar char="q"/>
            </a:pPr>
            <a:r>
              <a:rPr lang="en-US" sz="1800" dirty="0">
                <a:solidFill>
                  <a:schemeClr val="tx1"/>
                </a:solidFill>
                <a:latin typeface="Times New Roman" panose="02020603050405020304" pitchFamily="18" charset="0"/>
                <a:cs typeface="Times New Roman" panose="02020603050405020304" pitchFamily="18" charset="0"/>
              </a:rPr>
              <a:t>AetherGuard Forensic is an AI-based system developed to detect deepfake content in digital media. With the rapid growth of manipulated images and videos, it has become increasingly difficult to distinguish between real and fake content. This system addresses that challenge by analyzing visual inconsistencies, biometric patterns, and generative artifacts using advanced deep learning models. It supports multiple input types, including images, videos, and live webcam streams, making it a comprehensive solution for modern digital forensics</a:t>
            </a:r>
            <a:r>
              <a:rPr lang="en-US" sz="1800" dirty="0">
                <a:latin typeface="Times New Roman" panose="02020603050405020304" pitchFamily="18" charset="0"/>
                <a:cs typeface="Times New Roman" panose="02020603050405020304" pitchFamily="18" charset="0"/>
              </a:rPr>
              <a:t>.</a:t>
            </a:r>
          </a:p>
          <a:p>
            <a:pPr algn="l"/>
            <a:endParaRPr lang="en-US" sz="1800" dirty="0">
              <a:latin typeface="Times New Roman" panose="02020603050405020304" pitchFamily="18" charset="0"/>
              <a:cs typeface="Times New Roman" panose="02020603050405020304" pitchFamily="18" charset="0"/>
            </a:endParaRPr>
          </a:p>
          <a:p>
            <a:pPr marL="342900" indent="-342900" algn="l">
              <a:buFont typeface="Wingdings" panose="05000000000000000000" pitchFamily="2" charset="2"/>
              <a:buChar char="q"/>
            </a:pPr>
            <a:r>
              <a:rPr lang="en-US" sz="1800" dirty="0">
                <a:solidFill>
                  <a:schemeClr val="tx1"/>
                </a:solidFill>
                <a:latin typeface="Times New Roman" panose="02020603050405020304" pitchFamily="18" charset="0"/>
                <a:cs typeface="Times New Roman" panose="02020603050405020304" pitchFamily="18" charset="0"/>
              </a:rPr>
              <a:t>The system leverages powerful architectures such as </a:t>
            </a:r>
            <a:r>
              <a:rPr lang="en-US" sz="1800" dirty="0" err="1">
                <a:solidFill>
                  <a:schemeClr val="tx1"/>
                </a:solidFill>
                <a:latin typeface="Times New Roman" panose="02020603050405020304" pitchFamily="18" charset="0"/>
                <a:cs typeface="Times New Roman" panose="02020603050405020304" pitchFamily="18" charset="0"/>
              </a:rPr>
              <a:t>EfficientNet</a:t>
            </a:r>
            <a:r>
              <a:rPr lang="en-US" sz="1800" dirty="0">
                <a:solidFill>
                  <a:schemeClr val="tx1"/>
                </a:solidFill>
                <a:latin typeface="Times New Roman" panose="02020603050405020304" pitchFamily="18" charset="0"/>
                <a:cs typeface="Times New Roman" panose="02020603050405020304" pitchFamily="18" charset="0"/>
              </a:rPr>
              <a:t> and Vision Transformers to accurately classify media as real, fake, or suspicious. It provides real-time results through an interactive dashboard, enabling users to easily understand and verify content authenticity. By combining artificial intelligence with user-friendly design, AetherGuard Forensic aims to enhance trust, security, and reliability in digital media, making it a practical tool for both individuals and organizations.</a:t>
            </a:r>
            <a:endParaRPr lang="en-IN" sz="18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26518676"/>
      </p:ext>
    </p:extLst>
  </p:cSld>
  <p:clrMapOvr>
    <a:masterClrMapping/>
  </p:clrMapOvr>
  <p:transition advTm="4000">
    <p:cu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260648"/>
            <a:ext cx="5868144" cy="584775"/>
          </a:xfrm>
          <a:prstGeom prst="rect">
            <a:avLst/>
          </a:prstGeom>
          <a:noFill/>
        </p:spPr>
        <p:txBody>
          <a:bodyPr wrap="square" rtlCol="0">
            <a:spAutoFit/>
          </a:bodyPr>
          <a:lstStyle/>
          <a:p>
            <a:r>
              <a:rPr lang="en-US" sz="3200" b="1" dirty="0">
                <a:latin typeface="Times New Roman" pitchFamily="18" charset="0"/>
                <a:cs typeface="Times New Roman" pitchFamily="18" charset="0"/>
              </a:rPr>
              <a:t>Problem</a:t>
            </a:r>
            <a:r>
              <a:rPr lang="en-US" sz="3200" dirty="0">
                <a:latin typeface="Times New Roman" pitchFamily="18" charset="0"/>
                <a:cs typeface="Times New Roman" pitchFamily="18" charset="0"/>
              </a:rPr>
              <a:t> </a:t>
            </a:r>
            <a:r>
              <a:rPr lang="en-US" sz="3200" b="1" dirty="0">
                <a:latin typeface="Times New Roman" pitchFamily="18" charset="0"/>
                <a:cs typeface="Times New Roman" pitchFamily="18" charset="0"/>
              </a:rPr>
              <a:t>Statement</a:t>
            </a:r>
          </a:p>
        </p:txBody>
      </p:sp>
      <p:sp>
        <p:nvSpPr>
          <p:cNvPr id="6" name="Rectangle 5">
            <a:extLst>
              <a:ext uri="{FF2B5EF4-FFF2-40B4-BE49-F238E27FC236}">
                <a16:creationId xmlns:a16="http://schemas.microsoft.com/office/drawing/2014/main" id="{BE384ED1-6231-726D-BBB8-98CA8FB2F009}"/>
              </a:ext>
            </a:extLst>
          </p:cNvPr>
          <p:cNvSpPr/>
          <p:nvPr/>
        </p:nvSpPr>
        <p:spPr>
          <a:xfrm>
            <a:off x="251520" y="1124744"/>
            <a:ext cx="8640960" cy="3970318"/>
          </a:xfrm>
          <a:prstGeom prst="rect">
            <a:avLst/>
          </a:prstGeom>
        </p:spPr>
        <p:txBody>
          <a:bodyPr wrap="square">
            <a:spAutoFit/>
          </a:bodyPr>
          <a:lstStyle/>
          <a:p>
            <a:pPr marL="342900" indent="-34290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In today’s digital age, the rapid growth of deepfake technology has made it increasingly difficult to distinguish between real and manipulated media. Deepfake images and videos can be easily created using advanced artificial intelligence techniques, leading to serious concerns such as misinformation, identity misuse, and loss of trust in digital platforms. This creates a major challenge for individuals, organizations, and society, as verifying the authenticity of digital content has become more complex than ever before.</a:t>
            </a:r>
          </a:p>
          <a:p>
            <a:pPr marL="342900" indent="-34290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With the advancement of artificial intelligence, there is a growing need for intelligent systems that can detect deepfake content accurately and efficiently. However, many existing solutions are either complex, computationally expensive, or not easily accessible to everyday users. AetherGuard Forensic addresses this problem by providing an AI-based system that analyzes digital media using deep learning models to identify manipulated content. It offers a user-friendly interface and real-time detection, helping users verify authenticity and improve trust in digital media.</a:t>
            </a:r>
          </a:p>
        </p:txBody>
      </p:sp>
    </p:spTree>
  </p:cSld>
  <p:clrMapOvr>
    <a:masterClrMapping/>
  </p:clrMapOvr>
  <mc:AlternateContent xmlns:mc="http://schemas.openxmlformats.org/markup-compatibility/2006" xmlns:p14="http://schemas.microsoft.com/office/powerpoint/2010/main">
    <mc:Choice Requires="p14">
      <p:transition p14:dur="0" advTm="4000"/>
    </mc:Choice>
    <mc:Fallback xmlns="">
      <p:transition advTm="4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659D4-8E8C-051D-5FA7-3F1A3EE5ED69}"/>
              </a:ext>
            </a:extLst>
          </p:cNvPr>
          <p:cNvSpPr>
            <a:spLocks noGrp="1"/>
          </p:cNvSpPr>
          <p:nvPr>
            <p:ph type="ctrTitle"/>
          </p:nvPr>
        </p:nvSpPr>
        <p:spPr/>
        <p:txBody>
          <a:bodyPr/>
          <a:lstStyle/>
          <a:p>
            <a:pPr algn="l"/>
            <a:r>
              <a:rPr lang="en-US" dirty="0"/>
              <a:t>Objective</a:t>
            </a:r>
          </a:p>
        </p:txBody>
      </p:sp>
      <p:sp>
        <p:nvSpPr>
          <p:cNvPr id="3" name="Subtitle 2">
            <a:extLst>
              <a:ext uri="{FF2B5EF4-FFF2-40B4-BE49-F238E27FC236}">
                <a16:creationId xmlns:a16="http://schemas.microsoft.com/office/drawing/2014/main" id="{1E75EA1B-3640-5613-1E52-FFABBF8B2359}"/>
              </a:ext>
            </a:extLst>
          </p:cNvPr>
          <p:cNvSpPr>
            <a:spLocks noGrp="1"/>
          </p:cNvSpPr>
          <p:nvPr>
            <p:ph type="subTitle" idx="1"/>
          </p:nvPr>
        </p:nvSpPr>
        <p:spPr>
          <a:xfrm>
            <a:off x="107504" y="1338064"/>
            <a:ext cx="8579296" cy="4755232"/>
          </a:xfrm>
        </p:spPr>
        <p:txBody>
          <a:bodyPr/>
          <a:lstStyle/>
          <a:p>
            <a:pPr marL="457200" indent="-457200" algn="l">
              <a:buFont typeface="Wingdings" panose="05000000000000000000" pitchFamily="2" charset="2"/>
              <a:buChar char="q"/>
            </a:pPr>
            <a:r>
              <a:rPr lang="en-US" sz="1800" dirty="0">
                <a:solidFill>
                  <a:schemeClr val="tx1"/>
                </a:solidFill>
                <a:latin typeface="Times New Roman" panose="02020603050405020304" pitchFamily="18" charset="0"/>
                <a:cs typeface="Times New Roman" panose="02020603050405020304" pitchFamily="18" charset="0"/>
              </a:rPr>
              <a:t>The primary objective of AetherGuard Forensic is to develop an AI-based system capable of accurately detecting deepfake content in digital media. The system aims to analyze images, videos, and live webcam inputs to identify whether the content is real, fake, or suspicious. By leveraging advanced deep learning models, it focuses on detecting visual inconsistencies, biometric anomalies, and generative artifacts that are commonly present in manipulated media.</a:t>
            </a:r>
          </a:p>
          <a:p>
            <a:pPr marL="457200" indent="-457200" algn="l">
              <a:buFont typeface="Wingdings" panose="05000000000000000000" pitchFamily="2" charset="2"/>
              <a:buChar char="q"/>
            </a:pPr>
            <a:r>
              <a:rPr lang="en-US" sz="1800" dirty="0">
                <a:solidFill>
                  <a:schemeClr val="tx1"/>
                </a:solidFill>
                <a:latin typeface="Times New Roman" panose="02020603050405020304" pitchFamily="18" charset="0"/>
                <a:cs typeface="Times New Roman" panose="02020603050405020304" pitchFamily="18" charset="0"/>
              </a:rPr>
              <a:t>Another key objective is to provide a user-friendly and real-time detection platform that is accessible to a wide range of users. The system is designed to integrate powerful models such as </a:t>
            </a:r>
            <a:r>
              <a:rPr lang="en-US" sz="1800" dirty="0" err="1">
                <a:solidFill>
                  <a:schemeClr val="tx1"/>
                </a:solidFill>
                <a:latin typeface="Times New Roman" panose="02020603050405020304" pitchFamily="18" charset="0"/>
                <a:cs typeface="Times New Roman" panose="02020603050405020304" pitchFamily="18" charset="0"/>
              </a:rPr>
              <a:t>EfficientNet</a:t>
            </a:r>
            <a:r>
              <a:rPr lang="en-US" sz="1800" dirty="0">
                <a:solidFill>
                  <a:schemeClr val="tx1"/>
                </a:solidFill>
                <a:latin typeface="Times New Roman" panose="02020603050405020304" pitchFamily="18" charset="0"/>
                <a:cs typeface="Times New Roman" panose="02020603050405020304" pitchFamily="18" charset="0"/>
              </a:rPr>
              <a:t> and Vision Transformers to ensure high accuracy and performance. Additionally, it aims to enhance trust, security, and reliability in digital media by offering an efficient, scalable, and easy-to-use solution for deepfake detection in real-world scenarios.</a:t>
            </a:r>
          </a:p>
          <a:p>
            <a:pPr marL="457200" indent="-457200" algn="l">
              <a:buFont typeface="Wingdings" panose="05000000000000000000" pitchFamily="2" charset="2"/>
              <a:buChar char="q"/>
            </a:pPr>
            <a:endParaRPr lang="en-US" sz="20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71024553"/>
      </p:ext>
    </p:extLst>
  </p:cSld>
  <p:clrMapOvr>
    <a:masterClrMapping/>
  </p:clrMapOvr>
  <p:transition advTm="4000">
    <p:cut/>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4B017-32D3-D4A8-3BB6-64B0E408388E}"/>
              </a:ext>
            </a:extLst>
          </p:cNvPr>
          <p:cNvSpPr>
            <a:spLocks noGrp="1"/>
          </p:cNvSpPr>
          <p:nvPr>
            <p:ph type="ctrTitle"/>
          </p:nvPr>
        </p:nvSpPr>
        <p:spPr/>
        <p:txBody>
          <a:bodyPr/>
          <a:lstStyle/>
          <a:p>
            <a:pPr algn="l"/>
            <a:r>
              <a:rPr lang="en-US" dirty="0"/>
              <a:t>Methodology</a:t>
            </a:r>
          </a:p>
        </p:txBody>
      </p:sp>
      <p:sp>
        <p:nvSpPr>
          <p:cNvPr id="3" name="Subtitle 2">
            <a:extLst>
              <a:ext uri="{FF2B5EF4-FFF2-40B4-BE49-F238E27FC236}">
                <a16:creationId xmlns:a16="http://schemas.microsoft.com/office/drawing/2014/main" id="{83AB3058-000E-8F73-05DE-84838D7057FA}"/>
              </a:ext>
            </a:extLst>
          </p:cNvPr>
          <p:cNvSpPr>
            <a:spLocks noGrp="1"/>
          </p:cNvSpPr>
          <p:nvPr>
            <p:ph type="subTitle" idx="1"/>
          </p:nvPr>
        </p:nvSpPr>
        <p:spPr>
          <a:xfrm>
            <a:off x="0" y="1340768"/>
            <a:ext cx="8686800" cy="4755232"/>
          </a:xfrm>
        </p:spPr>
        <p:txBody>
          <a:bodyPr/>
          <a:lstStyle/>
          <a:p>
            <a:pPr marL="457200" indent="-457200" algn="l">
              <a:buFont typeface="Wingdings" panose="05000000000000000000" pitchFamily="2" charset="2"/>
              <a:buChar char="q"/>
            </a:pPr>
            <a:r>
              <a:rPr lang="en-US" sz="2000" dirty="0">
                <a:solidFill>
                  <a:schemeClr val="tx1"/>
                </a:solidFill>
                <a:latin typeface="Times New Roman" panose="02020603050405020304" pitchFamily="18" charset="0"/>
                <a:cs typeface="Times New Roman" panose="02020603050405020304" pitchFamily="18" charset="0"/>
              </a:rPr>
              <a:t>The methodology of AetherGuard Forensic follows a structured pipeline for detecting deepfake content. The system accepts input in the form of images, videos, or live webcam streams. Initially, the input data undergoes preprocessing using techniques such as face detection and alignment through MTCNN, followed by normalization and resizing to ensure consistency. This step prepares the data for accurate analysis by removing noise and focusing on relevant features.</a:t>
            </a:r>
          </a:p>
          <a:p>
            <a:pPr marL="457200" indent="-457200" algn="l">
              <a:buFont typeface="Wingdings" panose="05000000000000000000" pitchFamily="2" charset="2"/>
              <a:buChar char="q"/>
            </a:pPr>
            <a:endParaRPr lang="en-US" sz="2000" dirty="0">
              <a:solidFill>
                <a:schemeClr val="tx1"/>
              </a:solidFill>
              <a:latin typeface="Times New Roman" panose="02020603050405020304" pitchFamily="18" charset="0"/>
              <a:cs typeface="Times New Roman" panose="02020603050405020304" pitchFamily="18" charset="0"/>
            </a:endParaRPr>
          </a:p>
          <a:p>
            <a:pPr marL="457200" indent="-457200" algn="l">
              <a:buFont typeface="Wingdings" panose="05000000000000000000" pitchFamily="2" charset="2"/>
              <a:buChar char="q"/>
            </a:pPr>
            <a:r>
              <a:rPr lang="en-US" sz="2000" dirty="0">
                <a:solidFill>
                  <a:schemeClr val="tx1"/>
                </a:solidFill>
                <a:latin typeface="Times New Roman" panose="02020603050405020304" pitchFamily="18" charset="0"/>
                <a:cs typeface="Times New Roman" panose="02020603050405020304" pitchFamily="18" charset="0"/>
              </a:rPr>
              <a:t>After preprocessing, the system extracts meaningful features using deep learning models such as </a:t>
            </a:r>
            <a:r>
              <a:rPr lang="en-US" sz="2000" dirty="0" err="1">
                <a:solidFill>
                  <a:schemeClr val="tx1"/>
                </a:solidFill>
                <a:latin typeface="Times New Roman" panose="02020603050405020304" pitchFamily="18" charset="0"/>
                <a:cs typeface="Times New Roman" panose="02020603050405020304" pitchFamily="18" charset="0"/>
              </a:rPr>
              <a:t>EfficientNet</a:t>
            </a:r>
            <a:r>
              <a:rPr lang="en-US" sz="2000" dirty="0">
                <a:solidFill>
                  <a:schemeClr val="tx1"/>
                </a:solidFill>
                <a:latin typeface="Times New Roman" panose="02020603050405020304" pitchFamily="18" charset="0"/>
                <a:cs typeface="Times New Roman" panose="02020603050405020304" pitchFamily="18" charset="0"/>
              </a:rPr>
              <a:t> and Vision Transformers. These models analyze visual patterns, textures, and inconsistencies to detect signs of manipulation. The extracted features are then passed through a classification layer that predicts whether the content is real, fake, or suspicious. Finally, the result is displayed on an interactive dashboard in real time, enabling users to easily interpret and verify the authenticity of the media.</a:t>
            </a:r>
          </a:p>
          <a:p>
            <a:pPr marL="457200" indent="-457200" algn="l">
              <a:buFont typeface="Wingdings" panose="05000000000000000000" pitchFamily="2" charset="2"/>
              <a:buChar char="q"/>
            </a:pPr>
            <a:endParaRPr lang="en-US" sz="2000" dirty="0">
              <a:solidFill>
                <a:schemeClr val="tx1"/>
              </a:solidFill>
              <a:latin typeface="Times New Roman" panose="02020603050405020304" pitchFamily="18" charset="0"/>
              <a:cs typeface="Times New Roman" panose="02020603050405020304" pitchFamily="18" charset="0"/>
            </a:endParaRPr>
          </a:p>
          <a:p>
            <a:pPr marL="457200" indent="-457200" algn="l">
              <a:buFont typeface="Wingdings" panose="05000000000000000000" pitchFamily="2" charset="2"/>
              <a:buChar char="q"/>
            </a:pPr>
            <a:endParaRPr lang="en-US" dirty="0"/>
          </a:p>
        </p:txBody>
      </p:sp>
    </p:spTree>
    <p:extLst>
      <p:ext uri="{BB962C8B-B14F-4D97-AF65-F5344CB8AC3E}">
        <p14:creationId xmlns:p14="http://schemas.microsoft.com/office/powerpoint/2010/main" val="653524443"/>
      </p:ext>
    </p:extLst>
  </p:cSld>
  <p:clrMapOvr>
    <a:masterClrMapping/>
  </p:clrMapOvr>
  <p:transition advTm="4000">
    <p:cut/>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48D51A-0924-11B4-18DC-A867555C276B}"/>
              </a:ext>
            </a:extLst>
          </p:cNvPr>
          <p:cNvSpPr>
            <a:spLocks noGrp="1"/>
          </p:cNvSpPr>
          <p:nvPr>
            <p:ph type="ctrTitle"/>
          </p:nvPr>
        </p:nvSpPr>
        <p:spPr/>
        <p:txBody>
          <a:bodyPr/>
          <a:lstStyle/>
          <a:p>
            <a:pPr algn="l"/>
            <a:r>
              <a:rPr lang="en-US" dirty="0"/>
              <a:t>System Architecture</a:t>
            </a:r>
          </a:p>
        </p:txBody>
      </p:sp>
      <p:sp>
        <p:nvSpPr>
          <p:cNvPr id="3" name="Subtitle 2">
            <a:extLst>
              <a:ext uri="{FF2B5EF4-FFF2-40B4-BE49-F238E27FC236}">
                <a16:creationId xmlns:a16="http://schemas.microsoft.com/office/drawing/2014/main" id="{CBD7612F-C9FF-A4EA-57A0-6998963839B2}"/>
              </a:ext>
            </a:extLst>
          </p:cNvPr>
          <p:cNvSpPr>
            <a:spLocks noGrp="1"/>
          </p:cNvSpPr>
          <p:nvPr>
            <p:ph type="subTitle" idx="1"/>
          </p:nvPr>
        </p:nvSpPr>
        <p:spPr>
          <a:xfrm>
            <a:off x="179512" y="980728"/>
            <a:ext cx="8507288" cy="5115272"/>
          </a:xfrm>
        </p:spPr>
        <p:txBody>
          <a:bodyPr/>
          <a:lstStyle/>
          <a:p>
            <a:pPr algn="l"/>
            <a:r>
              <a:rPr lang="en-US" sz="1800" dirty="0">
                <a:solidFill>
                  <a:schemeClr val="tx1"/>
                </a:solidFill>
                <a:latin typeface="Times New Roman" panose="02020603050405020304" pitchFamily="18" charset="0"/>
                <a:cs typeface="Times New Roman" panose="02020603050405020304" pitchFamily="18" charset="0"/>
              </a:rPr>
              <a:t>The system follows a pipeline from user input to AI model processing and real-time output.</a:t>
            </a:r>
          </a:p>
        </p:txBody>
      </p:sp>
      <p:pic>
        <p:nvPicPr>
          <p:cNvPr id="6" name="Picture 5">
            <a:extLst>
              <a:ext uri="{FF2B5EF4-FFF2-40B4-BE49-F238E27FC236}">
                <a16:creationId xmlns:a16="http://schemas.microsoft.com/office/drawing/2014/main" id="{10A91B25-B5BC-FA4E-8AAE-79303D5863E4}"/>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contrast="-20000"/>
                    </a14:imgEffect>
                  </a14:imgLayer>
                </a14:imgProps>
              </a:ext>
            </a:extLst>
          </a:blip>
          <a:stretch>
            <a:fillRect/>
          </a:stretch>
        </p:blipFill>
        <p:spPr>
          <a:xfrm>
            <a:off x="683568" y="1988840"/>
            <a:ext cx="7011008" cy="4248472"/>
          </a:xfrm>
          <a:prstGeom prst="rect">
            <a:avLst/>
          </a:prstGeom>
          <a:ln w="2286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1427398532"/>
      </p:ext>
    </p:extLst>
  </p:cSld>
  <p:clrMapOvr>
    <a:masterClrMapping/>
  </p:clrMapOvr>
  <p:transition advTm="4000">
    <p:cu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260648"/>
            <a:ext cx="5868144" cy="584775"/>
          </a:xfrm>
          <a:prstGeom prst="rect">
            <a:avLst/>
          </a:prstGeom>
          <a:noFill/>
        </p:spPr>
        <p:txBody>
          <a:bodyPr wrap="square" rtlCol="0">
            <a:spAutoFit/>
          </a:bodyPr>
          <a:lstStyle/>
          <a:p>
            <a:r>
              <a:rPr lang="en-US" sz="3200" b="1" dirty="0">
                <a:latin typeface="Times New Roman" pitchFamily="18" charset="0"/>
                <a:cs typeface="Times New Roman" pitchFamily="18" charset="0"/>
              </a:rPr>
              <a:t>Key Features &amp; Learnings</a:t>
            </a:r>
          </a:p>
        </p:txBody>
      </p:sp>
      <p:sp>
        <p:nvSpPr>
          <p:cNvPr id="6" name="Rectangle 5">
            <a:extLst>
              <a:ext uri="{FF2B5EF4-FFF2-40B4-BE49-F238E27FC236}">
                <a16:creationId xmlns:a16="http://schemas.microsoft.com/office/drawing/2014/main" id="{BE384ED1-6231-726D-BBB8-98CA8FB2F009}"/>
              </a:ext>
            </a:extLst>
          </p:cNvPr>
          <p:cNvSpPr/>
          <p:nvPr/>
        </p:nvSpPr>
        <p:spPr>
          <a:xfrm>
            <a:off x="227737" y="1084698"/>
            <a:ext cx="8496944" cy="4809009"/>
          </a:xfrm>
          <a:prstGeom prst="rect">
            <a:avLst/>
          </a:prstGeom>
        </p:spPr>
        <p:txBody>
          <a:bodyPr wrap="square">
            <a:spAutoFit/>
          </a:bodyPr>
          <a:lstStyle/>
          <a:p>
            <a:pPr marL="342900" lvl="0" indent="-342900" eaLnBrk="0" fontAlgn="base" hangingPunct="0">
              <a:spcBef>
                <a:spcPct val="0"/>
              </a:spcBef>
              <a:spcAft>
                <a:spcPct val="0"/>
              </a:spcAft>
              <a:buFont typeface="Wingdings" panose="05000000000000000000" pitchFamily="2" charset="2"/>
              <a:buChar char="v"/>
            </a:pPr>
            <a:r>
              <a:rPr lang="en-US" b="1" dirty="0">
                <a:latin typeface="Times New Roman" panose="02020603050405020304" pitchFamily="18" charset="0"/>
                <a:cs typeface="Times New Roman" panose="02020603050405020304" pitchFamily="18" charset="0"/>
              </a:rPr>
              <a:t>Multimodal Detection:</a:t>
            </a:r>
            <a:r>
              <a:rPr lang="en-US" dirty="0">
                <a:latin typeface="Times New Roman" panose="02020603050405020304" pitchFamily="18" charset="0"/>
                <a:cs typeface="Times New Roman" panose="02020603050405020304" pitchFamily="18" charset="0"/>
              </a:rPr>
              <a:t> Supports images, videos, and live webcam input.</a:t>
            </a:r>
          </a:p>
          <a:p>
            <a:pPr marL="342900" lvl="0" indent="-342900" eaLnBrk="0" fontAlgn="base" hangingPunct="0">
              <a:spcBef>
                <a:spcPct val="0"/>
              </a:spcBef>
              <a:spcAft>
                <a:spcPct val="0"/>
              </a:spcAft>
              <a:buFont typeface="Wingdings" panose="05000000000000000000" pitchFamily="2" charset="2"/>
              <a:buChar char="v"/>
            </a:pPr>
            <a:endParaRPr kumimoji="0" lang="en-GB"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lvl="0" indent="-342900" eaLnBrk="0" fontAlgn="base" hangingPunct="0">
              <a:spcBef>
                <a:spcPct val="0"/>
              </a:spcBef>
              <a:spcAft>
                <a:spcPct val="0"/>
              </a:spcAft>
              <a:buFont typeface="Wingdings" panose="05000000000000000000" pitchFamily="2" charset="2"/>
              <a:buChar char="v"/>
            </a:pPr>
            <a:r>
              <a:rPr lang="en-US" b="1" dirty="0">
                <a:latin typeface="Times New Roman" panose="02020603050405020304" pitchFamily="18" charset="0"/>
                <a:cs typeface="Times New Roman" panose="02020603050405020304" pitchFamily="18" charset="0"/>
              </a:rPr>
              <a:t>AI-Based Classification:</a:t>
            </a:r>
            <a:r>
              <a:rPr lang="en-US" dirty="0">
                <a:latin typeface="Times New Roman" panose="02020603050405020304" pitchFamily="18" charset="0"/>
                <a:cs typeface="Times New Roman" panose="02020603050405020304" pitchFamily="18" charset="0"/>
              </a:rPr>
              <a:t> Uses </a:t>
            </a:r>
            <a:r>
              <a:rPr lang="en-US" dirty="0" err="1">
                <a:latin typeface="Times New Roman" panose="02020603050405020304" pitchFamily="18" charset="0"/>
                <a:cs typeface="Times New Roman" panose="02020603050405020304" pitchFamily="18" charset="0"/>
              </a:rPr>
              <a:t>EfficientNet</a:t>
            </a:r>
            <a:r>
              <a:rPr lang="en-US" dirty="0">
                <a:latin typeface="Times New Roman" panose="02020603050405020304" pitchFamily="18" charset="0"/>
                <a:cs typeface="Times New Roman" panose="02020603050405020304" pitchFamily="18" charset="0"/>
              </a:rPr>
              <a:t> and Vision Transformers for accurate deepfake detection.</a:t>
            </a:r>
          </a:p>
          <a:p>
            <a:pPr marL="342900" lvl="0" indent="-342900" eaLnBrk="0" fontAlgn="base" hangingPunct="0">
              <a:spcBef>
                <a:spcPct val="0"/>
              </a:spcBef>
              <a:spcAft>
                <a:spcPct val="0"/>
              </a:spcAft>
              <a:buFont typeface="Wingdings" panose="05000000000000000000" pitchFamily="2" charset="2"/>
              <a:buChar char="v"/>
            </a:pPr>
            <a:endParaRPr kumimoji="0" lang="en-GB" altLang="en-US"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lvl="0" indent="-342900" eaLnBrk="0" fontAlgn="base" hangingPunct="0">
              <a:spcBef>
                <a:spcPct val="0"/>
              </a:spcBef>
              <a:spcAft>
                <a:spcPct val="0"/>
              </a:spcAft>
              <a:buFont typeface="Wingdings" panose="05000000000000000000" pitchFamily="2" charset="2"/>
              <a:buChar char="v"/>
            </a:pPr>
            <a:r>
              <a:rPr lang="en-US" b="1" dirty="0">
                <a:latin typeface="Times New Roman" panose="02020603050405020304" pitchFamily="18" charset="0"/>
                <a:cs typeface="Times New Roman" panose="02020603050405020304" pitchFamily="18" charset="0"/>
              </a:rPr>
              <a:t>Real-Time Analysis:</a:t>
            </a:r>
            <a:r>
              <a:rPr lang="en-US" dirty="0">
                <a:latin typeface="Times New Roman" panose="02020603050405020304" pitchFamily="18" charset="0"/>
                <a:cs typeface="Times New Roman" panose="02020603050405020304" pitchFamily="18" charset="0"/>
              </a:rPr>
              <a:t> Provides instant results through an interactive dashboard.</a:t>
            </a:r>
          </a:p>
          <a:p>
            <a:pPr marL="342900" lvl="0" indent="-342900" eaLnBrk="0" fontAlgn="base" hangingPunct="0">
              <a:spcBef>
                <a:spcPct val="0"/>
              </a:spcBef>
              <a:spcAft>
                <a:spcPct val="0"/>
              </a:spcAft>
              <a:buFont typeface="Wingdings" panose="05000000000000000000" pitchFamily="2" charset="2"/>
              <a:buChar char="v"/>
            </a:pPr>
            <a:endParaRPr kumimoji="0" lang="en-US" altLang="en-US"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v"/>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Advanced Preprocessing: </a:t>
            </a:r>
            <a:r>
              <a:rPr kumimoji="0" lang="en-US" altLang="en-US"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Uses MTCNN for face detection and alignment.</a:t>
            </a:r>
          </a:p>
          <a:p>
            <a:pPr marR="0" lvl="0" algn="l" defTabSz="914400" rtl="0" eaLnBrk="0" fontAlgn="base" latinLnBrk="0" hangingPunct="0">
              <a:lnSpc>
                <a:spcPct val="100000"/>
              </a:lnSpc>
              <a:spcBef>
                <a:spcPct val="0"/>
              </a:spcBef>
              <a:spcAft>
                <a:spcPct val="0"/>
              </a:spcAft>
              <a:buClrTx/>
              <a:buSzTx/>
              <a:tabLst/>
            </a:pPr>
            <a:endParaRPr kumimoji="0" lang="en-GB" altLang="en-US"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v"/>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User-Friendly Interface: </a:t>
            </a:r>
            <a:r>
              <a:rPr kumimoji="0" lang="en-US" altLang="en-US"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Simple and intuitive dashboard for easy usage</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v"/>
              <a:tabLst/>
            </a:pPr>
            <a:endParaRPr lang="en-US" altLang="en-US" dirty="0">
              <a:latin typeface="Times New Roman" panose="02020603050405020304" pitchFamily="18" charset="0"/>
              <a:cs typeface="Times New Roman" panose="02020603050405020304" pitchFamily="18" charset="0"/>
            </a:endParaRPr>
          </a:p>
          <a:p>
            <a:pPr marL="342900" lvl="0" indent="-342900" eaLnBrk="0" fontAlgn="base" hangingPunct="0">
              <a:spcBef>
                <a:spcPct val="0"/>
              </a:spcBef>
              <a:spcAft>
                <a:spcPct val="0"/>
              </a:spcAft>
              <a:buFont typeface="Wingdings" panose="05000000000000000000" pitchFamily="2" charset="2"/>
              <a:buChar char="v"/>
            </a:pPr>
            <a:r>
              <a:rPr lang="en-US" b="1" dirty="0">
                <a:latin typeface="Times New Roman" panose="02020603050405020304" pitchFamily="18" charset="0"/>
                <a:cs typeface="Times New Roman" panose="02020603050405020304" pitchFamily="18" charset="0"/>
              </a:rPr>
              <a:t>Modern Full-Stack Architecture:</a:t>
            </a:r>
            <a:r>
              <a:rPr lang="en-US" dirty="0">
                <a:latin typeface="Times New Roman" panose="02020603050405020304" pitchFamily="18" charset="0"/>
                <a:cs typeface="Times New Roman" panose="02020603050405020304" pitchFamily="18" charset="0"/>
              </a:rPr>
              <a:t> React frontend with </a:t>
            </a:r>
            <a:r>
              <a:rPr lang="en-US" dirty="0" err="1">
                <a:latin typeface="Times New Roman" panose="02020603050405020304" pitchFamily="18" charset="0"/>
                <a:cs typeface="Times New Roman" panose="02020603050405020304" pitchFamily="18" charset="0"/>
              </a:rPr>
              <a:t>FastAPI</a:t>
            </a:r>
            <a:r>
              <a:rPr lang="en-US" dirty="0">
                <a:latin typeface="Times New Roman" panose="02020603050405020304" pitchFamily="18" charset="0"/>
                <a:cs typeface="Times New Roman" panose="02020603050405020304" pitchFamily="18" charset="0"/>
              </a:rPr>
              <a:t> backend for efficient processing.</a:t>
            </a:r>
          </a:p>
          <a:p>
            <a:pPr marL="342900" lvl="0" indent="-342900" eaLnBrk="0" fontAlgn="base" hangingPunct="0">
              <a:spcBef>
                <a:spcPct val="0"/>
              </a:spcBef>
              <a:spcAft>
                <a:spcPct val="0"/>
              </a:spcAft>
              <a:buFont typeface="Wingdings" panose="05000000000000000000" pitchFamily="2" charset="2"/>
              <a:buChar char="v"/>
            </a:pPr>
            <a:endParaRPr kumimoji="0" lang="en-US" altLang="en-US"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lvl="0" indent="-342900" eaLnBrk="0" fontAlgn="base" hangingPunct="0">
              <a:spcBef>
                <a:spcPct val="0"/>
              </a:spcBef>
              <a:spcAft>
                <a:spcPct val="0"/>
              </a:spcAft>
              <a:buFont typeface="Wingdings" panose="05000000000000000000" pitchFamily="2" charset="2"/>
              <a:buChar char="v"/>
            </a:pPr>
            <a:r>
              <a:rPr lang="en-US" b="1" dirty="0">
                <a:latin typeface="Times New Roman" panose="02020603050405020304" pitchFamily="18" charset="0"/>
                <a:cs typeface="Times New Roman" panose="02020603050405020304" pitchFamily="18" charset="0"/>
              </a:rPr>
              <a:t>Secure API Communication:</a:t>
            </a:r>
            <a:r>
              <a:rPr lang="en-US" dirty="0">
                <a:latin typeface="Times New Roman" panose="02020603050405020304" pitchFamily="18" charset="0"/>
                <a:cs typeface="Times New Roman" panose="02020603050405020304" pitchFamily="18" charset="0"/>
              </a:rPr>
              <a:t> Ensures safe and reliable data transfer between frontend and backend</a:t>
            </a:r>
            <a:endParaRPr kumimoji="0" lang="en-GB" altLang="en-US"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R="0" lvl="0" algn="l" defTabSz="914400" rtl="0" eaLnBrk="0" fontAlgn="base" latinLnBrk="0" hangingPunct="0">
              <a:lnSpc>
                <a:spcPct val="100000"/>
              </a:lnSpc>
              <a:spcBef>
                <a:spcPct val="0"/>
              </a:spcBef>
              <a:spcAft>
                <a:spcPct val="0"/>
              </a:spcAft>
              <a:buClrTx/>
              <a:buSzTx/>
              <a:tabLst/>
            </a:pPr>
            <a:endParaRPr kumimoji="0" lang="en-US" altLang="en-US" sz="185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28707288"/>
      </p:ext>
    </p:extLst>
  </p:cSld>
  <p:clrMapOvr>
    <a:masterClrMapping/>
  </p:clrMapOvr>
  <mc:AlternateContent xmlns:mc="http://schemas.openxmlformats.org/markup-compatibility/2006" xmlns:p14="http://schemas.microsoft.com/office/powerpoint/2010/main">
    <mc:Choice Requires="p14">
      <p:transition p14:dur="0" advTm="4000"/>
    </mc:Choice>
    <mc:Fallback xmlns="">
      <p:transition advTm="4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6F46A-F75D-2525-D584-3BAEDD8CD7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4046805-E97A-37FF-A0FB-C25DB7E95262}"/>
              </a:ext>
            </a:extLst>
          </p:cNvPr>
          <p:cNvSpPr txBox="1"/>
          <p:nvPr/>
        </p:nvSpPr>
        <p:spPr>
          <a:xfrm>
            <a:off x="0" y="260648"/>
            <a:ext cx="5868144" cy="584775"/>
          </a:xfrm>
          <a:prstGeom prst="rect">
            <a:avLst/>
          </a:prstGeom>
          <a:noFill/>
        </p:spPr>
        <p:txBody>
          <a:bodyPr wrap="square" rtlCol="0">
            <a:spAutoFit/>
          </a:bodyPr>
          <a:lstStyle/>
          <a:p>
            <a:r>
              <a:rPr lang="en-US" sz="3200" b="1" dirty="0">
                <a:latin typeface="Times New Roman" pitchFamily="18" charset="0"/>
                <a:cs typeface="Times New Roman" pitchFamily="18" charset="0"/>
              </a:rPr>
              <a:t>Technology Stack</a:t>
            </a:r>
          </a:p>
        </p:txBody>
      </p:sp>
      <p:sp>
        <p:nvSpPr>
          <p:cNvPr id="6" name="Rectangle 5">
            <a:extLst>
              <a:ext uri="{FF2B5EF4-FFF2-40B4-BE49-F238E27FC236}">
                <a16:creationId xmlns:a16="http://schemas.microsoft.com/office/drawing/2014/main" id="{5E1D8376-05BD-8706-01A2-D5698C558A99}"/>
              </a:ext>
            </a:extLst>
          </p:cNvPr>
          <p:cNvSpPr/>
          <p:nvPr/>
        </p:nvSpPr>
        <p:spPr>
          <a:xfrm>
            <a:off x="251520" y="1124744"/>
            <a:ext cx="8640960" cy="4801314"/>
          </a:xfrm>
          <a:prstGeom prst="rect">
            <a:avLst/>
          </a:prstGeom>
        </p:spPr>
        <p:txBody>
          <a:bodyPr wrap="square">
            <a:spAutoFit/>
          </a:bodyPr>
          <a:lstStyle/>
          <a:p>
            <a:pPr marL="342900" indent="-342900">
              <a:buFont typeface="Wingdings" panose="05000000000000000000" pitchFamily="2" charset="2"/>
              <a:buChar char="q"/>
            </a:pPr>
            <a:r>
              <a:rPr lang="en-GB" b="1" dirty="0">
                <a:latin typeface="Times New Roman" panose="02020603050405020304" pitchFamily="18" charset="0"/>
                <a:cs typeface="Times New Roman" pitchFamily="18" charset="0"/>
              </a:rPr>
              <a:t> Frontend: </a:t>
            </a:r>
          </a:p>
          <a:p>
            <a:r>
              <a:rPr lang="en-US" dirty="0">
                <a:latin typeface="Times New Roman" panose="02020603050405020304" pitchFamily="18" charset="0"/>
                <a:cs typeface="Times New Roman" pitchFamily="18" charset="0"/>
              </a:rPr>
              <a:t>The frontend is developed using React, providing an interactive and user-friendly dashboard. It allows users to upload images, videos, or use live webcam input and view detection results in real time. HTML, CSS, and JavaScript ensure smooth UI interactions.</a:t>
            </a:r>
          </a:p>
          <a:p>
            <a:pPr marL="285750" indent="-285750">
              <a:buFont typeface="Wingdings" panose="05000000000000000000" pitchFamily="2" charset="2"/>
              <a:buChar char="q"/>
            </a:pPr>
            <a:r>
              <a:rPr lang="en-GB" dirty="0">
                <a:latin typeface="Times New Roman" panose="02020603050405020304" pitchFamily="18" charset="0"/>
                <a:cs typeface="Times New Roman" pitchFamily="18" charset="0"/>
              </a:rPr>
              <a:t> </a:t>
            </a:r>
            <a:r>
              <a:rPr lang="en-GB" b="1" dirty="0">
                <a:latin typeface="Times New Roman" panose="02020603050405020304" pitchFamily="18" charset="0"/>
                <a:cs typeface="Times New Roman" pitchFamily="18" charset="0"/>
              </a:rPr>
              <a:t>Backend: </a:t>
            </a:r>
          </a:p>
          <a:p>
            <a:r>
              <a:rPr lang="en-US" dirty="0">
                <a:latin typeface="Times New Roman" panose="02020603050405020304" pitchFamily="18" charset="0"/>
                <a:cs typeface="Times New Roman" panose="02020603050405020304" pitchFamily="18" charset="0"/>
              </a:rPr>
              <a:t>The backend is built using </a:t>
            </a:r>
            <a:r>
              <a:rPr lang="en-US" b="1" dirty="0" err="1">
                <a:latin typeface="Times New Roman" panose="02020603050405020304" pitchFamily="18" charset="0"/>
                <a:cs typeface="Times New Roman" panose="02020603050405020304" pitchFamily="18" charset="0"/>
              </a:rPr>
              <a:t>FastAPI</a:t>
            </a:r>
            <a:r>
              <a:rPr lang="en-US" b="1" dirty="0">
                <a:latin typeface="Times New Roman" panose="02020603050405020304" pitchFamily="18" charset="0"/>
                <a:cs typeface="Times New Roman" panose="02020603050405020304" pitchFamily="18" charset="0"/>
              </a:rPr>
              <a:t> (Python)</a:t>
            </a:r>
            <a:r>
              <a:rPr lang="en-US" dirty="0">
                <a:latin typeface="Times New Roman" panose="02020603050405020304" pitchFamily="18" charset="0"/>
                <a:cs typeface="Times New Roman" panose="02020603050405020304" pitchFamily="18" charset="0"/>
              </a:rPr>
              <a:t>, which handles API requests, processes input data, and communicates with AI models. It ensures fast, scalable, and efficient processing of media inputs.</a:t>
            </a:r>
          </a:p>
          <a:p>
            <a:pPr marL="342900" indent="-342900">
              <a:buFont typeface="Wingdings" panose="05000000000000000000" pitchFamily="2" charset="2"/>
              <a:buChar char="q"/>
            </a:pPr>
            <a:r>
              <a:rPr lang="en-US" b="1" dirty="0">
                <a:latin typeface="Times New Roman" panose="02020603050405020304" pitchFamily="18" charset="0"/>
                <a:cs typeface="Times New Roman" panose="02020603050405020304" pitchFamily="18" charset="0"/>
              </a:rPr>
              <a:t>Data Processing</a:t>
            </a:r>
            <a:r>
              <a:rPr lang="en-US" dirty="0">
                <a:latin typeface="Times New Roman" panose="02020603050405020304" pitchFamily="18" charset="0"/>
                <a:cs typeface="Times New Roman" panose="02020603050405020304" pitchFamily="18" charset="0"/>
              </a:rPr>
              <a:t>:</a:t>
            </a:r>
          </a:p>
          <a:p>
            <a:r>
              <a:rPr lang="en-US" dirty="0">
                <a:latin typeface="Times New Roman" panose="02020603050405020304" pitchFamily="18" charset="0"/>
                <a:cs typeface="Times New Roman" panose="02020603050405020304" pitchFamily="18" charset="0"/>
              </a:rPr>
              <a:t>Data preprocessing is performed using </a:t>
            </a:r>
            <a:r>
              <a:rPr lang="en-US" b="1" dirty="0">
                <a:latin typeface="Times New Roman" panose="02020603050405020304" pitchFamily="18" charset="0"/>
                <a:cs typeface="Times New Roman" panose="02020603050405020304" pitchFamily="18" charset="0"/>
              </a:rPr>
              <a:t>MTCNN</a:t>
            </a:r>
            <a:r>
              <a:rPr lang="en-US" dirty="0">
                <a:latin typeface="Times New Roman" panose="02020603050405020304" pitchFamily="18" charset="0"/>
                <a:cs typeface="Times New Roman" panose="02020603050405020304" pitchFamily="18" charset="0"/>
              </a:rPr>
              <a:t> for face detection and alignment. The input media is resized, normalized, and prepared for analysis to improve model accuracy    and consistency.</a:t>
            </a:r>
          </a:p>
          <a:p>
            <a:pPr marL="285750" indent="-285750">
              <a:buFont typeface="Wingdings" panose="05000000000000000000" pitchFamily="2" charset="2"/>
              <a:buChar char="q"/>
            </a:pPr>
            <a:r>
              <a:rPr lang="en-US" b="1" dirty="0">
                <a:latin typeface="Times New Roman" panose="02020603050405020304" pitchFamily="18" charset="0"/>
                <a:cs typeface="Times New Roman" panose="02020603050405020304" pitchFamily="18" charset="0"/>
              </a:rPr>
              <a:t>AI Model Integration:</a:t>
            </a:r>
          </a:p>
          <a:p>
            <a:r>
              <a:rPr lang="en-US" dirty="0">
                <a:latin typeface="Times New Roman" panose="02020603050405020304" pitchFamily="18" charset="0"/>
                <a:cs typeface="Times New Roman" panose="02020603050405020304" pitchFamily="18" charset="0"/>
              </a:rPr>
              <a:t>The system uses </a:t>
            </a:r>
            <a:r>
              <a:rPr lang="en-US" b="1" dirty="0" err="1">
                <a:latin typeface="Times New Roman" panose="02020603050405020304" pitchFamily="18" charset="0"/>
                <a:cs typeface="Times New Roman" panose="02020603050405020304" pitchFamily="18" charset="0"/>
              </a:rPr>
              <a:t>EfficientNet</a:t>
            </a:r>
            <a:r>
              <a:rPr lang="en-US" b="1" dirty="0">
                <a:latin typeface="Times New Roman" panose="02020603050405020304" pitchFamily="18" charset="0"/>
                <a:cs typeface="Times New Roman" panose="02020603050405020304" pitchFamily="18" charset="0"/>
              </a:rPr>
              <a:t> (CNN)</a:t>
            </a:r>
            <a:r>
              <a:rPr lang="en-US" dirty="0">
                <a:latin typeface="Times New Roman" panose="02020603050405020304" pitchFamily="18" charset="0"/>
                <a:cs typeface="Times New Roman" panose="02020603050405020304" pitchFamily="18" charset="0"/>
              </a:rPr>
              <a:t> and </a:t>
            </a:r>
            <a:r>
              <a:rPr lang="en-US" b="1" dirty="0">
                <a:latin typeface="Times New Roman" panose="02020603050405020304" pitchFamily="18" charset="0"/>
                <a:cs typeface="Times New Roman" panose="02020603050405020304" pitchFamily="18" charset="0"/>
              </a:rPr>
              <a:t>Vision Transformers (</a:t>
            </a:r>
            <a:r>
              <a:rPr lang="en-US" b="1" dirty="0" err="1">
                <a:latin typeface="Times New Roman" panose="02020603050405020304" pitchFamily="18" charset="0"/>
                <a:cs typeface="Times New Roman" panose="02020603050405020304" pitchFamily="18" charset="0"/>
              </a:rPr>
              <a:t>ViT</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implemented in   </a:t>
            </a:r>
            <a:r>
              <a:rPr lang="en-US" b="1" dirty="0" err="1">
                <a:latin typeface="Times New Roman" panose="02020603050405020304" pitchFamily="18" charset="0"/>
                <a:cs typeface="Times New Roman" panose="02020603050405020304" pitchFamily="18" charset="0"/>
              </a:rPr>
              <a:t>PyTorch</a:t>
            </a:r>
            <a:r>
              <a:rPr lang="en-US" dirty="0">
                <a:latin typeface="Times New Roman" panose="02020603050405020304" pitchFamily="18" charset="0"/>
                <a:cs typeface="Times New Roman" panose="02020603050405020304" pitchFamily="18" charset="0"/>
              </a:rPr>
              <a:t> for feature extraction and classification. These models analyze visual patterns and classify content as real, fake, or suspicious.</a:t>
            </a:r>
            <a:endParaRPr lang="en-US" b="1" dirty="0">
              <a:latin typeface="Times New Roman" panose="02020603050405020304" pitchFamily="18" charset="0"/>
              <a:cs typeface="Times New Roman" panose="02020603050405020304" pitchFamily="18" charset="0"/>
            </a:endParaRPr>
          </a:p>
          <a:p>
            <a:pPr algn="dist"/>
            <a:r>
              <a:rPr lang="en-US"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090438651"/>
      </p:ext>
    </p:extLst>
  </p:cSld>
  <p:clrMapOvr>
    <a:masterClrMapping/>
  </p:clrMapOvr>
  <mc:AlternateContent xmlns:mc="http://schemas.openxmlformats.org/markup-compatibility/2006" xmlns:p14="http://schemas.microsoft.com/office/powerpoint/2010/main">
    <mc:Choice Requires="p14">
      <p:transition p14:dur="0" advTm="4000"/>
    </mc:Choice>
    <mc:Fallback xmlns="">
      <p:transition advTm="4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260648"/>
            <a:ext cx="5868144" cy="584775"/>
          </a:xfrm>
          <a:prstGeom prst="rect">
            <a:avLst/>
          </a:prstGeom>
          <a:noFill/>
        </p:spPr>
        <p:txBody>
          <a:bodyPr wrap="square" rtlCol="0">
            <a:spAutoFit/>
          </a:bodyPr>
          <a:lstStyle/>
          <a:p>
            <a:r>
              <a:rPr lang="en-US" sz="3200" b="1" dirty="0">
                <a:latin typeface="Times New Roman" pitchFamily="18" charset="0"/>
                <a:cs typeface="Times New Roman" pitchFamily="18" charset="0"/>
              </a:rPr>
              <a:t>Results and Output</a:t>
            </a:r>
          </a:p>
        </p:txBody>
      </p:sp>
      <p:pic>
        <p:nvPicPr>
          <p:cNvPr id="7" name="Picture 6">
            <a:extLst>
              <a:ext uri="{FF2B5EF4-FFF2-40B4-BE49-F238E27FC236}">
                <a16:creationId xmlns:a16="http://schemas.microsoft.com/office/drawing/2014/main" id="{539C6291-43C0-21CA-C9A5-9407C36AB8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5780" y="1628800"/>
            <a:ext cx="8532440" cy="3871595"/>
          </a:xfrm>
          <a:prstGeom prst="rect">
            <a:avLst/>
          </a:prstGeom>
        </p:spPr>
      </p:pic>
      <p:pic>
        <p:nvPicPr>
          <p:cNvPr id="2050" name="Picture 2">
            <a:extLst>
              <a:ext uri="{FF2B5EF4-FFF2-40B4-BE49-F238E27FC236}">
                <a16:creationId xmlns:a16="http://schemas.microsoft.com/office/drawing/2014/main" id="{F86B3304-3CF7-2CEE-8E9C-D67B526896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898996"/>
            <a:ext cx="9144000" cy="51943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D9310DCF-6157-A5D0-E611-F3C1D0FE2413}"/>
              </a:ext>
            </a:extLst>
          </p:cNvPr>
          <p:cNvPicPr>
            <a:picLocks noChangeAspect="1"/>
          </p:cNvPicPr>
          <p:nvPr/>
        </p:nvPicPr>
        <p:blipFill>
          <a:blip r:embed="rId4"/>
          <a:stretch>
            <a:fillRect/>
          </a:stretch>
        </p:blipFill>
        <p:spPr>
          <a:xfrm>
            <a:off x="0" y="845423"/>
            <a:ext cx="9144000" cy="4891076"/>
          </a:xfrm>
          <a:prstGeom prst="rect">
            <a:avLst/>
          </a:prstGeom>
        </p:spPr>
      </p:pic>
    </p:spTree>
    <p:extLst>
      <p:ext uri="{BB962C8B-B14F-4D97-AF65-F5344CB8AC3E}">
        <p14:creationId xmlns:p14="http://schemas.microsoft.com/office/powerpoint/2010/main" val="2863939616"/>
      </p:ext>
    </p:extLst>
  </p:cSld>
  <p:clrMapOvr>
    <a:masterClrMapping/>
  </p:clrMapOvr>
  <p:transition advTm="4000">
    <p:cut/>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46671-959E-D47E-DEF9-90241847BF5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44161A2-EFBB-9DBC-7EF0-D4ACD677D4CC}"/>
              </a:ext>
            </a:extLst>
          </p:cNvPr>
          <p:cNvSpPr txBox="1"/>
          <p:nvPr/>
        </p:nvSpPr>
        <p:spPr>
          <a:xfrm>
            <a:off x="0" y="260648"/>
            <a:ext cx="5868144" cy="584775"/>
          </a:xfrm>
          <a:prstGeom prst="rect">
            <a:avLst/>
          </a:prstGeom>
          <a:noFill/>
        </p:spPr>
        <p:txBody>
          <a:bodyPr wrap="square" rtlCol="0">
            <a:spAutoFit/>
          </a:bodyPr>
          <a:lstStyle/>
          <a:p>
            <a:r>
              <a:rPr lang="en-US" sz="3200" b="1" dirty="0">
                <a:latin typeface="Times New Roman" pitchFamily="18" charset="0"/>
                <a:cs typeface="Times New Roman" pitchFamily="18" charset="0"/>
              </a:rPr>
              <a:t>Results and Output</a:t>
            </a:r>
          </a:p>
        </p:txBody>
      </p:sp>
      <p:pic>
        <p:nvPicPr>
          <p:cNvPr id="5124" name="Picture 4">
            <a:extLst>
              <a:ext uri="{FF2B5EF4-FFF2-40B4-BE49-F238E27FC236}">
                <a16:creationId xmlns:a16="http://schemas.microsoft.com/office/drawing/2014/main" id="{BEF02E9A-94CB-4871-72BB-FB84557DA3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57250"/>
            <a:ext cx="9144000" cy="51435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591290EA-7B7E-1133-F926-235C0B8B2322}"/>
              </a:ext>
            </a:extLst>
          </p:cNvPr>
          <p:cNvPicPr>
            <a:picLocks noChangeAspect="1"/>
          </p:cNvPicPr>
          <p:nvPr/>
        </p:nvPicPr>
        <p:blipFill>
          <a:blip r:embed="rId3"/>
          <a:stretch>
            <a:fillRect/>
          </a:stretch>
        </p:blipFill>
        <p:spPr>
          <a:xfrm>
            <a:off x="16008" y="845422"/>
            <a:ext cx="9144000" cy="5319881"/>
          </a:xfrm>
          <a:prstGeom prst="rect">
            <a:avLst/>
          </a:prstGeom>
        </p:spPr>
      </p:pic>
    </p:spTree>
    <p:extLst>
      <p:ext uri="{BB962C8B-B14F-4D97-AF65-F5344CB8AC3E}">
        <p14:creationId xmlns:p14="http://schemas.microsoft.com/office/powerpoint/2010/main" val="1358749465"/>
      </p:ext>
    </p:extLst>
  </p:cSld>
  <p:clrMapOvr>
    <a:masterClrMapping/>
  </p:clrMapOvr>
  <p:transition advTm="4000">
    <p:cut/>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3228-6456-C514-131B-4375A940F4B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F0F93DA-B7A9-4989-2D0A-FBCD334E416C}"/>
              </a:ext>
            </a:extLst>
          </p:cNvPr>
          <p:cNvSpPr txBox="1"/>
          <p:nvPr/>
        </p:nvSpPr>
        <p:spPr>
          <a:xfrm>
            <a:off x="0" y="260648"/>
            <a:ext cx="5868144" cy="584775"/>
          </a:xfrm>
          <a:prstGeom prst="rect">
            <a:avLst/>
          </a:prstGeom>
          <a:noFill/>
        </p:spPr>
        <p:txBody>
          <a:bodyPr wrap="square" rtlCol="0">
            <a:spAutoFit/>
          </a:bodyPr>
          <a:lstStyle/>
          <a:p>
            <a:r>
              <a:rPr lang="en-US" sz="3200" b="1" dirty="0">
                <a:latin typeface="Times New Roman" pitchFamily="18" charset="0"/>
                <a:cs typeface="Times New Roman" pitchFamily="18" charset="0"/>
              </a:rPr>
              <a:t>Key Findings</a:t>
            </a:r>
          </a:p>
        </p:txBody>
      </p:sp>
      <p:sp>
        <p:nvSpPr>
          <p:cNvPr id="5" name="TextBox 4">
            <a:extLst>
              <a:ext uri="{FF2B5EF4-FFF2-40B4-BE49-F238E27FC236}">
                <a16:creationId xmlns:a16="http://schemas.microsoft.com/office/drawing/2014/main" id="{FC729F98-12C4-3CD9-EDC9-006ECD0593B5}"/>
              </a:ext>
            </a:extLst>
          </p:cNvPr>
          <p:cNvSpPr txBox="1"/>
          <p:nvPr/>
        </p:nvSpPr>
        <p:spPr>
          <a:xfrm>
            <a:off x="179512" y="1052736"/>
            <a:ext cx="8784976" cy="3970318"/>
          </a:xfrm>
          <a:prstGeom prst="rect">
            <a:avLst/>
          </a:prstGeom>
          <a:noFill/>
        </p:spPr>
        <p:txBody>
          <a:bodyPr wrap="square" rtlCol="0">
            <a:spAutoFit/>
          </a:bodyPr>
          <a:lstStyle/>
          <a:p>
            <a:pPr marL="285750" indent="-28575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The system successfully detects deepfake content across images, videos, and live webcam inputs.</a:t>
            </a:r>
          </a:p>
          <a:p>
            <a:pPr marL="285750" indent="-28575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Deep learning models such as </a:t>
            </a:r>
            <a:r>
              <a:rPr lang="en-US" b="1" dirty="0">
                <a:latin typeface="Times New Roman" panose="02020603050405020304" pitchFamily="18" charset="0"/>
                <a:cs typeface="Times New Roman" panose="02020603050405020304" pitchFamily="18" charset="0"/>
              </a:rPr>
              <a:t>Efficient Net and Vision Transformers</a:t>
            </a:r>
            <a:r>
              <a:rPr lang="en-US" dirty="0">
                <a:latin typeface="Times New Roman" panose="02020603050405020304" pitchFamily="18" charset="0"/>
                <a:cs typeface="Times New Roman" panose="02020603050405020304" pitchFamily="18" charset="0"/>
              </a:rPr>
              <a:t> achieved high accuracy in identifying manipulated media.</a:t>
            </a:r>
          </a:p>
          <a:p>
            <a:pPr marL="285750" indent="-28575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The use of </a:t>
            </a:r>
            <a:r>
              <a:rPr lang="en-US" b="1" dirty="0">
                <a:latin typeface="Times New Roman" panose="02020603050405020304" pitchFamily="18" charset="0"/>
                <a:cs typeface="Times New Roman" panose="02020603050405020304" pitchFamily="18" charset="0"/>
              </a:rPr>
              <a:t>MTCNN preprocessing</a:t>
            </a:r>
            <a:r>
              <a:rPr lang="en-US" dirty="0">
                <a:latin typeface="Times New Roman" panose="02020603050405020304" pitchFamily="18" charset="0"/>
                <a:cs typeface="Times New Roman" panose="02020603050405020304" pitchFamily="18" charset="0"/>
              </a:rPr>
              <a:t> improved detection performance by focusing on facial features.</a:t>
            </a:r>
          </a:p>
          <a:p>
            <a:pPr marL="285750" indent="-28575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The system provides </a:t>
            </a:r>
            <a:r>
              <a:rPr lang="en-US" b="1" dirty="0">
                <a:latin typeface="Times New Roman" panose="02020603050405020304" pitchFamily="18" charset="0"/>
                <a:cs typeface="Times New Roman" panose="02020603050405020304" pitchFamily="18" charset="0"/>
              </a:rPr>
              <a:t>real-time results</a:t>
            </a:r>
            <a:r>
              <a:rPr lang="en-US" dirty="0">
                <a:latin typeface="Times New Roman" panose="02020603050405020304" pitchFamily="18" charset="0"/>
                <a:cs typeface="Times New Roman" panose="02020603050405020304" pitchFamily="18" charset="0"/>
              </a:rPr>
              <a:t> through an interactive dashboard with fast response time.</a:t>
            </a:r>
          </a:p>
          <a:p>
            <a:pPr marL="285750" indent="-28575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The ensemble approach improves reliability and reduces false predictions compared to single-model systems.</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73824864"/>
      </p:ext>
    </p:extLst>
  </p:cSld>
  <p:clrMapOvr>
    <a:masterClrMapping/>
  </p:clrMapOvr>
  <p:transition advTm="4000">
    <p:cut/>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260648"/>
            <a:ext cx="5868144" cy="584775"/>
          </a:xfrm>
          <a:prstGeom prst="rect">
            <a:avLst/>
          </a:prstGeom>
          <a:noFill/>
        </p:spPr>
        <p:txBody>
          <a:bodyPr wrap="square" rtlCol="0">
            <a:spAutoFit/>
          </a:bodyPr>
          <a:lstStyle/>
          <a:p>
            <a:r>
              <a:rPr lang="en-US" sz="3200" b="1" dirty="0">
                <a:latin typeface="Times New Roman" pitchFamily="18" charset="0"/>
                <a:cs typeface="Times New Roman" pitchFamily="18" charset="0"/>
              </a:rPr>
              <a:t>Conclusion</a:t>
            </a:r>
          </a:p>
        </p:txBody>
      </p:sp>
      <p:sp>
        <p:nvSpPr>
          <p:cNvPr id="3" name="Rectangle 2"/>
          <p:cNvSpPr/>
          <p:nvPr/>
        </p:nvSpPr>
        <p:spPr>
          <a:xfrm>
            <a:off x="179512" y="1052736"/>
            <a:ext cx="8784976" cy="3724096"/>
          </a:xfrm>
          <a:prstGeom prst="rect">
            <a:avLst/>
          </a:prstGeom>
        </p:spPr>
        <p:txBody>
          <a:bodyPr wrap="square">
            <a:spAutoFit/>
          </a:bodyPr>
          <a:lstStyle/>
          <a:p>
            <a:pPr marL="342900" indent="-34290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The development of AetherGuard Forensic marks a significant step toward addressing the growing challenge of deepfake content in digital media. The system integrates advanced deep learning models such as </a:t>
            </a:r>
            <a:r>
              <a:rPr lang="en-US" dirty="0" err="1">
                <a:latin typeface="Times New Roman" panose="02020603050405020304" pitchFamily="18" charset="0"/>
                <a:cs typeface="Times New Roman" panose="02020603050405020304" pitchFamily="18" charset="0"/>
              </a:rPr>
              <a:t>EfficientNet</a:t>
            </a:r>
            <a:r>
              <a:rPr lang="en-US" dirty="0">
                <a:latin typeface="Times New Roman" panose="02020603050405020304" pitchFamily="18" charset="0"/>
                <a:cs typeface="Times New Roman" panose="02020603050405020304" pitchFamily="18" charset="0"/>
              </a:rPr>
              <a:t> and Vision Transformers to analyze and classify media as real, fake, or suspicious. By supporting multiple input types including images, videos, and live webcam streams, the platform provides a comprehensive and practical solution for detecting manipulated content.</a:t>
            </a:r>
          </a:p>
          <a:p>
            <a:pPr marL="342900" indent="-342900">
              <a:buFont typeface="Wingdings" panose="05000000000000000000" pitchFamily="2" charset="2"/>
              <a:buChar char="q"/>
            </a:pPr>
            <a:endParaRPr lang="en-US" b="0" i="0" u="none" strike="noStrike" dirty="0">
              <a:solidFill>
                <a:srgbClr val="000000"/>
              </a:solidFill>
              <a:effectLst/>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q"/>
            </a:pPr>
            <a:r>
              <a:rPr lang="en-US" dirty="0"/>
              <a:t>The system is designed to be efficient, scalable, and user-friendly, offering real-time detection through an interactive dashboard. It enhances trust and authenticity in digital media by enabling users to verify content easily. With its modular architecture and adaptability, AetherGuard Forensic can be extended for large-scale deployment in areas such as cybersecurity, media verification, and digital forensics.</a:t>
            </a:r>
            <a:endParaRPr lang="en-US" b="0" i="0" u="none" strike="noStrike" dirty="0">
              <a:solidFill>
                <a:srgbClr val="000000"/>
              </a:solidFill>
              <a:effectLst/>
              <a:latin typeface="Noto Sans Symbols"/>
            </a:endParaRPr>
          </a:p>
          <a:p>
            <a:pPr marL="342900" lvl="0" indent="-342900">
              <a:buFont typeface="Wingdings" panose="05000000000000000000" pitchFamily="2" charset="2"/>
              <a:buChar char="q"/>
            </a:pPr>
            <a:endParaRPr lang="en-US" sz="2000" i="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85953028"/>
      </p:ext>
    </p:extLst>
  </p:cSld>
  <p:clrMapOvr>
    <a:masterClrMapping/>
  </p:clrMapOvr>
  <mc:AlternateContent xmlns:mc="http://schemas.openxmlformats.org/markup-compatibility/2006" xmlns:p14="http://schemas.microsoft.com/office/powerpoint/2010/main">
    <mc:Choice Requires="p14">
      <p:transition p14:dur="0" advTm="4000"/>
    </mc:Choice>
    <mc:Fallback xmlns="">
      <p:transition advTm="4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41537-4885-E61F-E856-A3F3E498F3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C8F6CB-6788-E5FB-72F2-71B6E827EE2C}"/>
              </a:ext>
            </a:extLst>
          </p:cNvPr>
          <p:cNvSpPr txBox="1"/>
          <p:nvPr/>
        </p:nvSpPr>
        <p:spPr>
          <a:xfrm>
            <a:off x="0" y="260648"/>
            <a:ext cx="5868144" cy="584775"/>
          </a:xfrm>
          <a:prstGeom prst="rect">
            <a:avLst/>
          </a:prstGeom>
          <a:noFill/>
        </p:spPr>
        <p:txBody>
          <a:bodyPr wrap="square" rtlCol="0">
            <a:spAutoFit/>
          </a:bodyPr>
          <a:lstStyle/>
          <a:p>
            <a:r>
              <a:rPr lang="en-US" sz="3200" b="1" dirty="0">
                <a:latin typeface="Times New Roman" pitchFamily="18" charset="0"/>
                <a:cs typeface="Times New Roman" pitchFamily="18" charset="0"/>
              </a:rPr>
              <a:t>Challenges Faced</a:t>
            </a:r>
          </a:p>
        </p:txBody>
      </p:sp>
      <p:sp>
        <p:nvSpPr>
          <p:cNvPr id="3" name="Rectangle 2">
            <a:extLst>
              <a:ext uri="{FF2B5EF4-FFF2-40B4-BE49-F238E27FC236}">
                <a16:creationId xmlns:a16="http://schemas.microsoft.com/office/drawing/2014/main" id="{CCA83D73-8E89-5416-CBBF-242AC548E8D0}"/>
              </a:ext>
            </a:extLst>
          </p:cNvPr>
          <p:cNvSpPr/>
          <p:nvPr/>
        </p:nvSpPr>
        <p:spPr>
          <a:xfrm>
            <a:off x="179512" y="1052736"/>
            <a:ext cx="8784976" cy="4001095"/>
          </a:xfrm>
          <a:prstGeom prst="rect">
            <a:avLst/>
          </a:prstGeom>
        </p:spPr>
        <p:txBody>
          <a:bodyPr wrap="square">
            <a:spAutoFit/>
          </a:bodyPr>
          <a:lstStyle/>
          <a:p>
            <a:pPr marL="342900" lvl="0" indent="-342900">
              <a:buFont typeface="Wingdings" panose="05000000000000000000" pitchFamily="2" charset="2"/>
              <a:buChar char="q"/>
            </a:pPr>
            <a:r>
              <a:rPr lang="en-US" b="1" dirty="0">
                <a:latin typeface="Times New Roman" panose="02020603050405020304" pitchFamily="18" charset="0"/>
                <a:cs typeface="Times New Roman" panose="02020603050405020304" pitchFamily="18" charset="0"/>
              </a:rPr>
              <a:t>Model Accuracy &amp; Generalization:</a:t>
            </a:r>
            <a:r>
              <a:rPr lang="en-US" dirty="0">
                <a:latin typeface="Times New Roman" panose="02020603050405020304" pitchFamily="18" charset="0"/>
                <a:cs typeface="Times New Roman" panose="02020603050405020304" pitchFamily="18" charset="0"/>
              </a:rPr>
              <a:t> Ensuring reliable detection across diverse deepfake types while minimizing false positives.</a:t>
            </a:r>
          </a:p>
          <a:p>
            <a:pPr marL="342900" lvl="0" indent="-34290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342900" lvl="0" indent="-34290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Real-Time Processing:</a:t>
            </a:r>
            <a:r>
              <a:rPr lang="en-US" dirty="0">
                <a:latin typeface="Times New Roman" panose="02020603050405020304" pitchFamily="18" charset="0"/>
                <a:cs typeface="Times New Roman" panose="02020603050405020304" pitchFamily="18" charset="0"/>
              </a:rPr>
              <a:t> Achieving fast inference speed without compromising model performance.</a:t>
            </a:r>
          </a:p>
          <a:p>
            <a:pPr marL="342900" lvl="0" indent="-34290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342900" lvl="0" indent="-34290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Data Quality &amp; Availability:</a:t>
            </a:r>
            <a:r>
              <a:rPr lang="en-US" dirty="0">
                <a:latin typeface="Times New Roman" panose="02020603050405020304" pitchFamily="18" charset="0"/>
                <a:cs typeface="Times New Roman" panose="02020603050405020304" pitchFamily="18" charset="0"/>
              </a:rPr>
              <a:t> Limited and imbalanced datasets for real vs deepfake media affected training. </a:t>
            </a:r>
          </a:p>
          <a:p>
            <a:pPr marL="342900" lvl="0" indent="-34290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342900" lvl="0" indent="-342900">
              <a:buFont typeface="Wingdings" panose="05000000000000000000" pitchFamily="2" charset="2"/>
              <a:buChar char="q"/>
            </a:pPr>
            <a:r>
              <a:rPr lang="en-US" b="1" dirty="0">
                <a:latin typeface="Times New Roman" panose="02020603050405020304" pitchFamily="18" charset="0"/>
                <a:cs typeface="Times New Roman" panose="02020603050405020304" pitchFamily="18" charset="0"/>
              </a:rPr>
              <a:t>System Integration:</a:t>
            </a:r>
            <a:r>
              <a:rPr lang="en-US" dirty="0">
                <a:latin typeface="Times New Roman" panose="02020603050405020304" pitchFamily="18" charset="0"/>
                <a:cs typeface="Times New Roman" panose="02020603050405020304" pitchFamily="18" charset="0"/>
              </a:rPr>
              <a:t> Seamless integration of frontend (React), backend (</a:t>
            </a:r>
            <a:r>
              <a:rPr lang="en-US" dirty="0" err="1">
                <a:latin typeface="Times New Roman" panose="02020603050405020304" pitchFamily="18" charset="0"/>
                <a:cs typeface="Times New Roman" panose="02020603050405020304" pitchFamily="18" charset="0"/>
              </a:rPr>
              <a:t>FastAPI</a:t>
            </a:r>
            <a:r>
              <a:rPr lang="en-US" dirty="0">
                <a:latin typeface="Times New Roman" panose="02020603050405020304" pitchFamily="18" charset="0"/>
                <a:cs typeface="Times New Roman" panose="02020603050405020304" pitchFamily="18" charset="0"/>
              </a:rPr>
              <a:t>), and AI models. </a:t>
            </a:r>
          </a:p>
          <a:p>
            <a:pPr marL="342900" lvl="0" indent="-34290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342900" lvl="0" indent="-342900">
              <a:buFont typeface="Wingdings" panose="05000000000000000000" pitchFamily="2" charset="2"/>
              <a:buChar char="q"/>
            </a:pPr>
            <a:r>
              <a:rPr lang="en-US" b="1" dirty="0">
                <a:latin typeface="Times New Roman" panose="02020603050405020304" pitchFamily="18" charset="0"/>
                <a:cs typeface="Times New Roman" panose="02020603050405020304" pitchFamily="18" charset="0"/>
              </a:rPr>
              <a:t>Computational Resources:</a:t>
            </a:r>
            <a:r>
              <a:rPr lang="en-US" dirty="0">
                <a:latin typeface="Times New Roman" panose="02020603050405020304" pitchFamily="18" charset="0"/>
                <a:cs typeface="Times New Roman" panose="02020603050405020304" pitchFamily="18" charset="0"/>
              </a:rPr>
              <a:t> High processing requirements for deep learning models during training and inference</a:t>
            </a:r>
            <a:r>
              <a:rPr lang="en-US" sz="2000" dirty="0">
                <a:latin typeface="Times New Roman" panose="02020603050405020304" pitchFamily="18" charset="0"/>
                <a:cs typeface="Times New Roman" panose="02020603050405020304" pitchFamily="18" charset="0"/>
              </a:rPr>
              <a:t>.</a:t>
            </a:r>
            <a:endParaRPr lang="en-US" sz="2000" i="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51232825"/>
      </p:ext>
    </p:extLst>
  </p:cSld>
  <p:clrMapOvr>
    <a:masterClrMapping/>
  </p:clrMapOvr>
  <mc:AlternateContent xmlns:mc="http://schemas.openxmlformats.org/markup-compatibility/2006">
    <mc:Choice xmlns:p14="http://schemas.microsoft.com/office/powerpoint/2010/main" Requires="p14">
      <p:transition p14:dur="0" advTm="4000"/>
    </mc:Choice>
    <mc:Fallback>
      <p:transition advTm="4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88D35-6006-DB81-C002-0D8F1897EF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D2E743-E659-8546-50B7-DB544E124E37}"/>
              </a:ext>
            </a:extLst>
          </p:cNvPr>
          <p:cNvSpPr txBox="1"/>
          <p:nvPr/>
        </p:nvSpPr>
        <p:spPr>
          <a:xfrm>
            <a:off x="0" y="260648"/>
            <a:ext cx="5868144" cy="584775"/>
          </a:xfrm>
          <a:prstGeom prst="rect">
            <a:avLst/>
          </a:prstGeom>
          <a:noFill/>
        </p:spPr>
        <p:txBody>
          <a:bodyPr wrap="square" rtlCol="0">
            <a:spAutoFit/>
          </a:bodyPr>
          <a:lstStyle/>
          <a:p>
            <a:r>
              <a:rPr lang="en-US" sz="3200" b="1" dirty="0">
                <a:latin typeface="Times New Roman" pitchFamily="18" charset="0"/>
                <a:cs typeface="Times New Roman" pitchFamily="18" charset="0"/>
              </a:rPr>
              <a:t>Future Scope</a:t>
            </a:r>
          </a:p>
        </p:txBody>
      </p:sp>
      <p:sp>
        <p:nvSpPr>
          <p:cNvPr id="3" name="Rectangle 2">
            <a:extLst>
              <a:ext uri="{FF2B5EF4-FFF2-40B4-BE49-F238E27FC236}">
                <a16:creationId xmlns:a16="http://schemas.microsoft.com/office/drawing/2014/main" id="{8803495D-B7DA-39CE-0ABD-E9CC0847F58E}"/>
              </a:ext>
            </a:extLst>
          </p:cNvPr>
          <p:cNvSpPr/>
          <p:nvPr/>
        </p:nvSpPr>
        <p:spPr>
          <a:xfrm>
            <a:off x="179512" y="1052736"/>
            <a:ext cx="8784976" cy="4278094"/>
          </a:xfrm>
          <a:prstGeom prst="rect">
            <a:avLst/>
          </a:prstGeom>
        </p:spPr>
        <p:txBody>
          <a:bodyPr wrap="square">
            <a:spAutoFit/>
          </a:bodyPr>
          <a:lstStyle/>
          <a:p>
            <a:pPr marL="342900" lvl="0" indent="-342900">
              <a:buFont typeface="Wingdings" panose="05000000000000000000" pitchFamily="2" charset="2"/>
              <a:buChar char="q"/>
            </a:pPr>
            <a:r>
              <a:rPr lang="en-US" b="1" dirty="0">
                <a:latin typeface="Times New Roman" panose="02020603050405020304" pitchFamily="18" charset="0"/>
                <a:cs typeface="Times New Roman" panose="02020603050405020304" pitchFamily="18" charset="0"/>
              </a:rPr>
              <a:t>Improved Model Accuracy:</a:t>
            </a:r>
            <a:r>
              <a:rPr lang="en-US" dirty="0">
                <a:latin typeface="Times New Roman" panose="02020603050405020304" pitchFamily="18" charset="0"/>
                <a:cs typeface="Times New Roman" panose="02020603050405020304" pitchFamily="18" charset="0"/>
              </a:rPr>
              <a:t> Enhance detection using larger datasets and advanced hybrid AI models.</a:t>
            </a:r>
          </a:p>
          <a:p>
            <a:pPr marL="342900" lvl="0" indent="-34290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342900" lvl="0" indent="-34290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Mobile Application Development:</a:t>
            </a:r>
            <a:r>
              <a:rPr lang="en-US" dirty="0">
                <a:latin typeface="Times New Roman" panose="02020603050405020304" pitchFamily="18" charset="0"/>
                <a:cs typeface="Times New Roman" panose="02020603050405020304" pitchFamily="18" charset="0"/>
              </a:rPr>
              <a:t> Extend the system to Android/iOS for on-the-go deepfake detection.</a:t>
            </a:r>
          </a:p>
          <a:p>
            <a:pPr marL="342900" lvl="0" indent="-34290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342900" lvl="0" indent="-34290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Cloud Deployment &amp; Scalability:</a:t>
            </a:r>
            <a:r>
              <a:rPr lang="en-US" dirty="0">
                <a:latin typeface="Times New Roman" panose="02020603050405020304" pitchFamily="18" charset="0"/>
                <a:cs typeface="Times New Roman" panose="02020603050405020304" pitchFamily="18" charset="0"/>
              </a:rPr>
              <a:t> Deploy on cloud platforms for large-scale, real-time processing.</a:t>
            </a:r>
          </a:p>
          <a:p>
            <a:pPr marL="342900" lvl="0" indent="-34290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342900" lvl="0" indent="-34290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Integration with Social Media Platforms:</a:t>
            </a:r>
            <a:r>
              <a:rPr lang="en-US" dirty="0">
                <a:latin typeface="Times New Roman" panose="02020603050405020304" pitchFamily="18" charset="0"/>
                <a:cs typeface="Times New Roman" panose="02020603050405020304" pitchFamily="18" charset="0"/>
              </a:rPr>
              <a:t> Enable automatic detection of deepfake content on online platforms.</a:t>
            </a:r>
          </a:p>
          <a:p>
            <a:pPr marL="342900" lvl="0" indent="-342900">
              <a:buFont typeface="Wingdings" panose="05000000000000000000" pitchFamily="2" charset="2"/>
              <a:buChar char="q"/>
            </a:pPr>
            <a:endParaRPr lang="en-US" dirty="0">
              <a:latin typeface="Times New Roman" panose="02020603050405020304" pitchFamily="18" charset="0"/>
              <a:cs typeface="Times New Roman" panose="02020603050405020304" pitchFamily="18" charset="0"/>
            </a:endParaRPr>
          </a:p>
          <a:p>
            <a:pPr marL="342900" lvl="0" indent="-342900">
              <a:buFont typeface="Wingdings" panose="05000000000000000000" pitchFamily="2" charset="2"/>
              <a:buChar char="q"/>
            </a:pP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Real-Time Video Surveillance:</a:t>
            </a:r>
            <a:r>
              <a:rPr lang="en-US" dirty="0">
                <a:latin typeface="Times New Roman" panose="02020603050405020304" pitchFamily="18" charset="0"/>
                <a:cs typeface="Times New Roman" panose="02020603050405020304" pitchFamily="18" charset="0"/>
              </a:rPr>
              <a:t> Apply the system in security and surveillance systems for live monitoring.</a:t>
            </a:r>
          </a:p>
          <a:p>
            <a:pPr lvl="0"/>
            <a:endParaRPr lang="en-US" sz="2000" i="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58914690"/>
      </p:ext>
    </p:extLst>
  </p:cSld>
  <p:clrMapOvr>
    <a:masterClrMapping/>
  </p:clrMapOvr>
  <mc:AlternateContent xmlns:mc="http://schemas.openxmlformats.org/markup-compatibility/2006">
    <mc:Choice xmlns:p14="http://schemas.microsoft.com/office/powerpoint/2010/main" Requires="p14">
      <p:transition p14:dur="0" advTm="4000"/>
    </mc:Choice>
    <mc:Fallback>
      <p:transition advTm="4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AutoShape 4" descr="Download The Best Thank You Slide For PPT Presentatio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30" name="AutoShape 6" descr="Download The Best Thank You Slide For PPT Presentatio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32" name="AutoShape 8" descr="Download The Best Thank You Slide For PPT Presentation"/>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34" name="Picture 10" descr="Thank you cards Images | Free Vectors, Stock Photos &amp; PSD"/>
          <p:cNvPicPr>
            <a:picLocks noChangeAspect="1" noChangeArrowheads="1"/>
          </p:cNvPicPr>
          <p:nvPr/>
        </p:nvPicPr>
        <p:blipFill>
          <a:blip r:embed="rId2" cstate="print"/>
          <a:srcRect/>
          <a:stretch>
            <a:fillRect/>
          </a:stretch>
        </p:blipFill>
        <p:spPr bwMode="auto">
          <a:xfrm>
            <a:off x="304800" y="1124744"/>
            <a:ext cx="8460432" cy="5353905"/>
          </a:xfrm>
          <a:prstGeom prst="rect">
            <a:avLst/>
          </a:prstGeom>
          <a:noFill/>
        </p:spPr>
      </p:pic>
    </p:spTree>
  </p:cSld>
  <p:clrMapOvr>
    <a:masterClrMapping/>
  </p:clrMapOvr>
  <p:transition advTm="4000">
    <p:cut/>
  </p:transition>
</p:sld>
</file>

<file path=ppt/theme/theme1.xml><?xml version="1.0" encoding="utf-8"?>
<a:theme xmlns:a="http://schemas.openxmlformats.org/drawingml/2006/main" name="Bubble Sor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3143</TotalTime>
  <Words>1388</Words>
  <Application>Microsoft Office PowerPoint</Application>
  <PresentationFormat>On-screen Show (4:3)</PresentationFormat>
  <Paragraphs>104</Paragraphs>
  <Slides>16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Noto Sans Symbols</vt:lpstr>
      <vt:lpstr>Arial</vt:lpstr>
      <vt:lpstr>Calibri</vt:lpstr>
      <vt:lpstr>Times New Roman</vt:lpstr>
      <vt:lpstr>Wingdings</vt:lpstr>
      <vt:lpstr>Bubble Sort</vt:lpstr>
      <vt:lpstr>PowerPoint Presentation</vt:lpstr>
      <vt:lpstr>PowerPoint Presentation</vt:lpstr>
      <vt:lpstr>Introduction</vt:lpstr>
      <vt:lpstr>PowerPoint Presentation</vt:lpstr>
      <vt:lpstr>Objective</vt:lpstr>
      <vt:lpstr>Methodology</vt:lpstr>
      <vt:lpstr>System Architecture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Cricket</dc:title>
  <dc:creator>abc</dc:creator>
  <cp:lastModifiedBy>Piyush Bhardwaj</cp:lastModifiedBy>
  <cp:revision>133</cp:revision>
  <dcterms:created xsi:type="dcterms:W3CDTF">2022-12-12T14:14:34Z</dcterms:created>
  <dcterms:modified xsi:type="dcterms:W3CDTF">2026-04-27T05:53:58Z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2024-05-15T12:29:59Z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72cdbcd3-6b3c-467e-b9b8-018dc42d10b7</vt:lpwstr>
  </property>
  <property fmtid="{D5CDD505-2E9C-101B-9397-08002B2CF9AE}" pid="7" name="MSIP_Label_defa4170-0d19-0005-0004-bc88714345d2_ActionId">
    <vt:lpwstr>cad06670-6b62-47c2-8dce-60115a911aec</vt:lpwstr>
  </property>
  <property fmtid="{D5CDD505-2E9C-101B-9397-08002B2CF9AE}" pid="8" name="MSIP_Label_defa4170-0d19-0005-0004-bc88714345d2_ContentBits">
    <vt:lpwstr>0</vt:lpwstr>
  </property>
</Properties>
</file>